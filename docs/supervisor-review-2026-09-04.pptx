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Kirish: infratuzilma tugadi, sakkiz rejim ham o'lchanadi, birinchi statistik taqqoslash qo'lda. Bugun sizdan to'rt qaror kerak — oxirgi slaydda.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uchtasi bir xil muammoni uch xil joyda hal qiladi: tranzaksiya ichida, ilovada, va redo logda. Har birining narxi boshqa joyda paydo bo'ladi — shuni o'lchayapmiz.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yerda asosiy gap: reja emas, ishlaydigan tizim. Agar vaqt bo'lsa docker ps ko'rsating va bitta run ishga tushiring — bu eng kuchli demo.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slayd — metodologiya. Imtihonchi 'nol yo'qotishni qanday da'vo qilasiz?' deb so'raganda javob shu: da'vo qilmayman, yuqori chegara beraman.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 'nega hammasi bir xil?' deb so'rashi mumkin. Javob: toza ishlashda farq bo'lmasligi kutilgan edi — farq faqat nosozlikda chiqadi. Shu uchun fault matritsasi bor.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eng toza natija. AQ +171%, outbox +110%, gibrid +84% — hammasi statistik minimumda. CDC, B1, B2 — nazoratdan farqlanmaydi. Chunki ular bazaga hech narsa yozmaydi.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560 barobar farq — AQ 6 ms, CDC 3 362 ms. Va bu yerda men o'z bashoratimni rad etdim: gibrid latensiyani qisqartiradi deb yozgandim, o'lchov buni 27 barobar rad etdi.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 ning IQR'iga qarang: 5.99 dan 51.03 gacha. Uning OLTP ta'siri nafaqat yuqori, balki beqaror. Va p99 haqidagi gapni albatta o'zingiz ayting — qaysi metrika ishonchli ekanini bilish o'lchovning bir qismi.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dissertatsiyaning metodologiyasini oqlaydigan eng kuchli dalil. Va bu alohida maqolaga arziydigan topilma — 10.2 savolida shuni so'raymiz.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Buni o'zingiz aytish kuchli tomon: takrorlash nima uchun kerakligini va sizda u borligini bir vaqtda ko'rsatadi. Imtihonchi buni hurmat qiladi.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 run, 3.6 soat kuzatuvsiz mashina vaqti. Allaqachon navbatga qo'yilgan va bugun tunda ishlaydi. Bu dissertatsiyadagi imtihonchini hayratlantira oladigan yagona da'vo.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Empirik ish rejadagidan ancha oldinda, lekin 2-bob umuman boshlanmagan. Bir oylik muddatda bu to'g'ri tartib — infratuzilmani oxirida shoshib qurib bo'lmaydi.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 muhimi birinchi va uchinchisi. Uchinchisiz 3-bob yozilmaydi. To'rtinchisi — yaxshi yangilik, majburiyat emas.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Rectangle 1"/>
          <p:cNvSpPr/>
          <p:nvPr/>
        </p:nvSpPr>
        <p:spPr>
          <a:xfrm>
            <a:off x="777240" y="2331720"/>
            <a:ext cx="10637215" cy="31750"/>
          </a:xfrm>
          <a:prstGeom prst="rect">
            <a:avLst/>
          </a:prstGeom>
          <a:solidFill>
            <a:srgbClr val="14181F"/>
          </a:solidFill>
          <a:ln>
            <a:noFill/>
          </a:ln>
          <a:effectLst/>
        </p:spPr>
        <p:txBody>
          <a:bodyPr rtlCol="0" anchor="ctr"/>
          <a:lstStyle/>
          <a:p>
            <a:pPr algn="ctr"/>
          </a:p>
        </p:txBody>
      </p:sp>
      <p:sp>
        <p:nvSpPr>
          <p:cNvPr id="3" name="TextBox 2"/>
          <p:cNvSpPr txBox="1"/>
          <p:nvPr/>
        </p:nvSpPr>
        <p:spPr>
          <a:xfrm>
            <a:off x="777240" y="1051560"/>
            <a:ext cx="9692640" cy="1280160"/>
          </a:xfrm>
          <a:prstGeom prst="rect">
            <a:avLst/>
          </a:prstGeom>
          <a:noFill/>
        </p:spPr>
        <p:txBody>
          <a:bodyPr wrap="square" lIns="0" rIns="0" tIns="0" bIns="0">
            <a:spAutoFit/>
          </a:bodyPr>
          <a:lstStyle/>
          <a:p>
            <a:pPr algn="l">
              <a:lnSpc>
                <a:spcPct val="100000"/>
              </a:lnSpc>
              <a:spcBef>
                <a:spcPts val="0"/>
              </a:spcBef>
              <a:spcAft>
                <a:spcPts val="1400"/>
              </a:spcAft>
            </a:pPr>
            <a:r>
              <a:rPr sz="1200" b="0">
                <a:solidFill>
                  <a:srgbClr val="8A929D"/>
                </a:solidFill>
                <a:latin typeface="Consolas"/>
              </a:rPr>
              <a:t>MASTER'S THESIS  ·  PROGRESS REVIEW  ·  ITPU</a:t>
            </a:r>
          </a:p>
        </p:txBody>
      </p:sp>
      <p:sp>
        <p:nvSpPr>
          <p:cNvPr id="4" name="TextBox 3"/>
          <p:cNvSpPr txBox="1"/>
          <p:nvPr/>
        </p:nvSpPr>
        <p:spPr>
          <a:xfrm>
            <a:off x="777240" y="2606040"/>
            <a:ext cx="10241280" cy="1828800"/>
          </a:xfrm>
          <a:prstGeom prst="rect">
            <a:avLst/>
          </a:prstGeom>
          <a:noFill/>
        </p:spPr>
        <p:txBody>
          <a:bodyPr wrap="square" lIns="0" rIns="0" tIns="0" bIns="0">
            <a:spAutoFit/>
          </a:bodyPr>
          <a:lstStyle/>
          <a:p>
            <a:pPr algn="l">
              <a:lnSpc>
                <a:spcPct val="100000"/>
              </a:lnSpc>
              <a:spcBef>
                <a:spcPts val="0"/>
              </a:spcBef>
              <a:spcAft>
                <a:spcPts val="1800"/>
              </a:spcAft>
            </a:pPr>
            <a:r>
              <a:rPr sz="4000" b="0">
                <a:solidFill>
                  <a:srgbClr val="14181F"/>
                </a:solidFill>
                <a:latin typeface="Georgia"/>
              </a:rPr>
              <a:t>Event-Based Observability of Transaction Processing in Bank Operations</a:t>
            </a:r>
          </a:p>
          <a:p>
            <a:pPr algn="l">
              <a:lnSpc>
                <a:spcPct val="125000"/>
              </a:lnSpc>
              <a:spcBef>
                <a:spcPts val="0"/>
              </a:spcBef>
              <a:spcAft>
                <a:spcPts val="600"/>
              </a:spcAft>
            </a:pPr>
            <a:r>
              <a:rPr sz="1700" b="0">
                <a:solidFill>
                  <a:srgbClr val="5A636F"/>
                </a:solidFill>
                <a:latin typeface="Calibri"/>
              </a:rPr>
              <a:t>Three event-generation patterns for Oracle-backed core banking, measured under controlled fault injection.</a:t>
            </a:r>
          </a:p>
        </p:txBody>
      </p:sp>
      <p:sp>
        <p:nvSpPr>
          <p:cNvPr id="5" name="TextBox 4"/>
          <p:cNvSpPr txBox="1"/>
          <p:nvPr/>
        </p:nvSpPr>
        <p:spPr>
          <a:xfrm>
            <a:off x="777240" y="5623560"/>
            <a:ext cx="10241280" cy="731520"/>
          </a:xfrm>
          <a:prstGeom prst="rect">
            <a:avLst/>
          </a:prstGeom>
          <a:noFill/>
        </p:spPr>
        <p:txBody>
          <a:bodyPr wrap="square" lIns="0" rIns="0" tIns="0" bIns="0">
            <a:spAutoFit/>
          </a:bodyPr>
          <a:lstStyle/>
          <a:p>
            <a:pPr algn="l">
              <a:lnSpc>
                <a:spcPct val="100000"/>
              </a:lnSpc>
              <a:spcBef>
                <a:spcPts val="0"/>
              </a:spcBef>
              <a:spcAft>
                <a:spcPts val="600"/>
              </a:spcAft>
            </a:pPr>
            <a:r>
              <a:rPr sz="1200" b="0">
                <a:solidFill>
                  <a:srgbClr val="8A929D"/>
                </a:solidFill>
                <a:latin typeface="Consolas"/>
              </a:rPr>
              <a:t>Day 3 of 30   ·   4 September 2026   ·   Phase A complete: 40 cells, 5 repetitions per mode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THE PROBLEM</a:t>
            </a:r>
          </a:p>
          <a:p>
            <a:pPr algn="l">
              <a:lnSpc>
                <a:spcPct val="95000"/>
              </a:lnSpc>
              <a:spcBef>
                <a:spcPts val="0"/>
              </a:spcBef>
              <a:spcAft>
                <a:spcPts val="400"/>
              </a:spcAft>
            </a:pPr>
            <a:r>
              <a:rPr sz="3000" b="0">
                <a:solidFill>
                  <a:srgbClr val="14181F"/>
                </a:solidFill>
                <a:latin typeface="Georgia"/>
              </a:rPr>
              <a:t>Getting an event out of a core banking database</a:t>
            </a:r>
          </a:p>
          <a:p>
            <a:pPr algn="l">
              <a:lnSpc>
                <a:spcPct val="100000"/>
              </a:lnSpc>
              <a:spcBef>
                <a:spcPts val="600"/>
              </a:spcBef>
              <a:spcAft>
                <a:spcPts val="600"/>
              </a:spcAft>
            </a:pPr>
            <a:r>
              <a:rPr sz="1400" b="0">
                <a:solidFill>
                  <a:srgbClr val="5A636F"/>
                </a:solidFill>
                <a:latin typeface="Calibri"/>
              </a:rPr>
              <a:t>Every A1 state change must reach the event bus exactly once, in order, without slowing the payment.</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sp>
        <p:nvSpPr>
          <p:cNvPr id="4" name="TextBox 3"/>
          <p:cNvSpPr txBox="1"/>
          <p:nvPr/>
        </p:nvSpPr>
        <p:spPr>
          <a:xfrm>
            <a:off x="777240" y="2148840"/>
            <a:ext cx="10637215" cy="4069080"/>
          </a:xfrm>
          <a:prstGeom prst="rect">
            <a:avLst/>
          </a:prstGeom>
          <a:noFill/>
        </p:spPr>
        <p:txBody>
          <a:bodyPr wrap="square" lIns="0" rIns="0" tIns="0" bIns="0">
            <a:spAutoFit/>
          </a:bodyPr>
          <a:lstStyle/>
          <a:p>
            <a:pPr>
              <a:lnSpc>
                <a:spcPct val="125000"/>
              </a:lnSpc>
              <a:spcAft>
                <a:spcPts val="1400"/>
              </a:spcAft>
            </a:pPr>
            <a:r>
              <a:rPr sz="1600" b="1">
                <a:solidFill>
                  <a:srgbClr val="14181F"/>
                </a:solidFill>
                <a:latin typeface="Calibri"/>
              </a:rPr>
              <a:t>Approach 1 — Internal PL/SQL.  </a:t>
            </a:r>
            <a:r>
              <a:rPr sz="1600">
                <a:solidFill>
                  <a:srgbClr val="5A636F"/>
                </a:solidFill>
                <a:latin typeface="Calibri"/>
              </a:rPr>
              <a:t>Trigger enqueues to Oracle AQ inside the transaction. Atomic by construction, but the observability code now sits on the payment's critical path.</a:t>
            </a:r>
          </a:p>
          <a:p>
            <a:pPr>
              <a:lnSpc>
                <a:spcPct val="125000"/>
              </a:lnSpc>
              <a:spcAft>
                <a:spcPts val="1400"/>
              </a:spcAft>
            </a:pPr>
            <a:r>
              <a:rPr sz="1600" b="1">
                <a:solidFill>
                  <a:srgbClr val="14181F"/>
                </a:solidFill>
                <a:latin typeface="Calibri"/>
              </a:rPr>
              <a:t>Approach 2 — Application wrapper.  </a:t>
            </a:r>
            <a:r>
              <a:rPr sz="1600">
                <a:solidFill>
                  <a:srgbClr val="5A636F"/>
                </a:solidFill>
                <a:latin typeface="Calibri"/>
              </a:rPr>
              <a:t>Spring AOP publishes the event. Simple — and the naive form is a dual write: the event can reach Kafka before the transaction that produced it commits.</a:t>
            </a:r>
          </a:p>
          <a:p>
            <a:pPr>
              <a:lnSpc>
                <a:spcPct val="125000"/>
              </a:lnSpc>
              <a:spcAft>
                <a:spcPts val="1400"/>
              </a:spcAft>
            </a:pPr>
            <a:r>
              <a:rPr sz="1600" b="1">
                <a:solidFill>
                  <a:srgbClr val="14181F"/>
                </a:solidFill>
                <a:latin typeface="Calibri"/>
              </a:rPr>
              <a:t>Approach 3 — CDC.  </a:t>
            </a:r>
            <a:r>
              <a:rPr sz="1600">
                <a:solidFill>
                  <a:srgbClr val="5A636F"/>
                </a:solidFill>
                <a:latin typeface="Calibri"/>
              </a:rPr>
              <a:t>Debezium mines the redo log. The application is untouched and cannot bypass it, but nothing is inside the transaction any more.</a:t>
            </a:r>
          </a:p>
          <a:p>
            <a:pPr>
              <a:lnSpc>
                <a:spcPct val="125000"/>
              </a:lnSpc>
              <a:spcAft>
                <a:spcPts val="1400"/>
              </a:spcAft>
            </a:pPr>
            <a:r>
              <a:rPr sz="1600" b="1">
                <a:solidFill>
                  <a:srgbClr val="14181F"/>
                </a:solidFill>
                <a:latin typeface="Calibri"/>
              </a:rPr>
              <a:t>The question is not which is fashionable.  </a:t>
            </a:r>
            <a:r>
              <a:rPr sz="1600">
                <a:solidFill>
                  <a:srgbClr val="5A636F"/>
                </a:solidFill>
                <a:latin typeface="Calibri"/>
              </a:rPr>
              <a:t>It is what each one costs the database, how far behind it runs, and what it loses when something breaks.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WHAT EXISTS</a:t>
            </a:r>
          </a:p>
          <a:p>
            <a:pPr algn="l">
              <a:lnSpc>
                <a:spcPct val="95000"/>
              </a:lnSpc>
              <a:spcBef>
                <a:spcPts val="0"/>
              </a:spcBef>
              <a:spcAft>
                <a:spcPts val="400"/>
              </a:spcAft>
            </a:pPr>
            <a:r>
              <a:rPr sz="3000" b="0">
                <a:solidFill>
                  <a:srgbClr val="14181F"/>
                </a:solidFill>
                <a:latin typeface="Georgia"/>
              </a:rPr>
              <a:t>Built and running, not planned</a:t>
            </a:r>
          </a:p>
          <a:p>
            <a:pPr algn="l">
              <a:lnSpc>
                <a:spcPct val="100000"/>
              </a:lnSpc>
              <a:spcBef>
                <a:spcPts val="600"/>
              </a:spcBef>
              <a:spcAft>
                <a:spcPts val="600"/>
              </a:spcAft>
            </a:pPr>
            <a:r>
              <a:rPr sz="1400" b="0">
                <a:solidFill>
                  <a:srgbClr val="5A636F"/>
                </a:solidFill>
                <a:latin typeface="Calibri"/>
              </a:rPr>
              <a:t>One command brings up the stack; one command runs and archives an experimental cell.</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sp>
        <p:nvSpPr>
          <p:cNvPr id="4" name="Rectangle 3"/>
          <p:cNvSpPr/>
          <p:nvPr/>
        </p:nvSpPr>
        <p:spPr>
          <a:xfrm>
            <a:off x="777240" y="2103120"/>
            <a:ext cx="2467279" cy="1691640"/>
          </a:xfrm>
          <a:prstGeom prst="rect">
            <a:avLst/>
          </a:prstGeom>
          <a:solidFill>
            <a:srgbClr val="FFFFFF"/>
          </a:solidFill>
          <a:ln w="9525">
            <a:solidFill>
              <a:srgbClr val="D2D8E0"/>
            </a:solidFill>
          </a:ln>
          <a:effectLst/>
        </p:spPr>
        <p:txBody>
          <a:bodyPr rtlCol="0" anchor="ctr"/>
          <a:lstStyle/>
          <a:p>
            <a:pPr algn="ctr"/>
          </a:p>
        </p:txBody>
      </p:sp>
      <p:sp>
        <p:nvSpPr>
          <p:cNvPr id="5" name="TextBox 4"/>
          <p:cNvSpPr txBox="1"/>
          <p:nvPr/>
        </p:nvSpPr>
        <p:spPr>
          <a:xfrm>
            <a:off x="978408" y="2304288"/>
            <a:ext cx="2064943" cy="1371600"/>
          </a:xfrm>
          <a:prstGeom prst="rect">
            <a:avLst/>
          </a:prstGeom>
          <a:noFill/>
        </p:spPr>
        <p:txBody>
          <a:bodyPr wrap="square" lIns="0" rIns="0" tIns="0" bIns="0">
            <a:spAutoFit/>
          </a:bodyPr>
          <a:lstStyle/>
          <a:p>
            <a:pPr algn="l">
              <a:lnSpc>
                <a:spcPct val="100000"/>
              </a:lnSpc>
              <a:spcBef>
                <a:spcPts val="0"/>
              </a:spcBef>
              <a:spcAft>
                <a:spcPts val="600"/>
              </a:spcAft>
            </a:pPr>
            <a:r>
              <a:rPr sz="1000" b="0">
                <a:solidFill>
                  <a:srgbClr val="8A929D"/>
                </a:solidFill>
                <a:latin typeface="Consolas"/>
              </a:rPr>
              <a:t>MODES</a:t>
            </a:r>
          </a:p>
          <a:p>
            <a:pPr algn="l">
              <a:lnSpc>
                <a:spcPct val="100000"/>
              </a:lnSpc>
              <a:spcBef>
                <a:spcPts val="0"/>
              </a:spcBef>
              <a:spcAft>
                <a:spcPts val="600"/>
              </a:spcAft>
            </a:pPr>
            <a:r>
              <a:rPr sz="3000" b="0">
                <a:solidFill>
                  <a:srgbClr val="2C6A4E"/>
                </a:solidFill>
                <a:latin typeface="Georgia"/>
              </a:rPr>
              <a:t>8 / 8</a:t>
            </a:r>
          </a:p>
          <a:p>
            <a:pPr algn="l">
              <a:lnSpc>
                <a:spcPct val="115000"/>
              </a:lnSpc>
              <a:spcBef>
                <a:spcPts val="0"/>
              </a:spcBef>
              <a:spcAft>
                <a:spcPts val="600"/>
              </a:spcAft>
            </a:pPr>
            <a:r>
              <a:rPr sz="1100" b="0">
                <a:solidFill>
                  <a:srgbClr val="5A636F"/>
                </a:solidFill>
                <a:latin typeface="Calibri"/>
              </a:rPr>
              <a:t>All implemented and validated end to end, including the two refuted baselines.</a:t>
            </a:r>
          </a:p>
        </p:txBody>
      </p:sp>
      <p:sp>
        <p:nvSpPr>
          <p:cNvPr id="6" name="Rectangle 5"/>
          <p:cNvSpPr/>
          <p:nvPr/>
        </p:nvSpPr>
        <p:spPr>
          <a:xfrm>
            <a:off x="3500551" y="2103120"/>
            <a:ext cx="2467279" cy="1691640"/>
          </a:xfrm>
          <a:prstGeom prst="rect">
            <a:avLst/>
          </a:prstGeom>
          <a:solidFill>
            <a:srgbClr val="FFFFFF"/>
          </a:solidFill>
          <a:ln w="9525">
            <a:solidFill>
              <a:srgbClr val="D2D8E0"/>
            </a:solidFill>
          </a:ln>
          <a:effectLst/>
        </p:spPr>
        <p:txBody>
          <a:bodyPr rtlCol="0" anchor="ctr"/>
          <a:lstStyle/>
          <a:p>
            <a:pPr algn="ctr"/>
          </a:p>
        </p:txBody>
      </p:sp>
      <p:sp>
        <p:nvSpPr>
          <p:cNvPr id="7" name="TextBox 6"/>
          <p:cNvSpPr txBox="1"/>
          <p:nvPr/>
        </p:nvSpPr>
        <p:spPr>
          <a:xfrm>
            <a:off x="3701719" y="2304288"/>
            <a:ext cx="2064943" cy="1371600"/>
          </a:xfrm>
          <a:prstGeom prst="rect">
            <a:avLst/>
          </a:prstGeom>
          <a:noFill/>
        </p:spPr>
        <p:txBody>
          <a:bodyPr wrap="square" lIns="0" rIns="0" tIns="0" bIns="0">
            <a:spAutoFit/>
          </a:bodyPr>
          <a:lstStyle/>
          <a:p>
            <a:pPr algn="l">
              <a:lnSpc>
                <a:spcPct val="100000"/>
              </a:lnSpc>
              <a:spcBef>
                <a:spcPts val="0"/>
              </a:spcBef>
              <a:spcAft>
                <a:spcPts val="600"/>
              </a:spcAft>
            </a:pPr>
            <a:r>
              <a:rPr sz="1000" b="0">
                <a:solidFill>
                  <a:srgbClr val="8A929D"/>
                </a:solidFill>
                <a:latin typeface="Consolas"/>
              </a:rPr>
              <a:t>SERVICES</a:t>
            </a:r>
          </a:p>
          <a:p>
            <a:pPr algn="l">
              <a:lnSpc>
                <a:spcPct val="100000"/>
              </a:lnSpc>
              <a:spcBef>
                <a:spcPts val="0"/>
              </a:spcBef>
              <a:spcAft>
                <a:spcPts val="600"/>
              </a:spcAft>
            </a:pPr>
            <a:r>
              <a:rPr sz="3000" b="0">
                <a:solidFill>
                  <a:srgbClr val="14181F"/>
                </a:solidFill>
                <a:latin typeface="Georgia"/>
              </a:rPr>
              <a:t>9</a:t>
            </a:r>
          </a:p>
          <a:p>
            <a:pPr algn="l">
              <a:lnSpc>
                <a:spcPct val="115000"/>
              </a:lnSpc>
              <a:spcBef>
                <a:spcPts val="0"/>
              </a:spcBef>
              <a:spcAft>
                <a:spcPts val="600"/>
              </a:spcAft>
            </a:pPr>
            <a:r>
              <a:rPr sz="1100" b="0">
                <a:solidFill>
                  <a:srgbClr val="5A636F"/>
                </a:solidFill>
                <a:latin typeface="Calibri"/>
              </a:rPr>
              <a:t>Oracle 26ai, Kafka 4.1 KRaft RF=3, Debezium 3.5.2, registry, Prometheus, Grafana.</a:t>
            </a:r>
          </a:p>
        </p:txBody>
      </p:sp>
      <p:sp>
        <p:nvSpPr>
          <p:cNvPr id="8" name="Rectangle 7"/>
          <p:cNvSpPr/>
          <p:nvPr/>
        </p:nvSpPr>
        <p:spPr>
          <a:xfrm>
            <a:off x="6223863" y="2103120"/>
            <a:ext cx="2467279" cy="1691640"/>
          </a:xfrm>
          <a:prstGeom prst="rect">
            <a:avLst/>
          </a:prstGeom>
          <a:solidFill>
            <a:srgbClr val="FFFFFF"/>
          </a:solidFill>
          <a:ln w="9525">
            <a:solidFill>
              <a:srgbClr val="D2D8E0"/>
            </a:solidFill>
          </a:ln>
          <a:effectLst/>
        </p:spPr>
        <p:txBody>
          <a:bodyPr rtlCol="0" anchor="ctr"/>
          <a:lstStyle/>
          <a:p>
            <a:pPr algn="ctr"/>
          </a:p>
        </p:txBody>
      </p:sp>
      <p:sp>
        <p:nvSpPr>
          <p:cNvPr id="9" name="TextBox 8"/>
          <p:cNvSpPr txBox="1"/>
          <p:nvPr/>
        </p:nvSpPr>
        <p:spPr>
          <a:xfrm>
            <a:off x="6425031" y="2304288"/>
            <a:ext cx="2064943" cy="1371600"/>
          </a:xfrm>
          <a:prstGeom prst="rect">
            <a:avLst/>
          </a:prstGeom>
          <a:noFill/>
        </p:spPr>
        <p:txBody>
          <a:bodyPr wrap="square" lIns="0" rIns="0" tIns="0" bIns="0">
            <a:spAutoFit/>
          </a:bodyPr>
          <a:lstStyle/>
          <a:p>
            <a:pPr algn="l">
              <a:lnSpc>
                <a:spcPct val="100000"/>
              </a:lnSpc>
              <a:spcBef>
                <a:spcPts val="0"/>
              </a:spcBef>
              <a:spcAft>
                <a:spcPts val="600"/>
              </a:spcAft>
            </a:pPr>
            <a:r>
              <a:rPr sz="1000" b="0">
                <a:solidFill>
                  <a:srgbClr val="8A929D"/>
                </a:solidFill>
                <a:latin typeface="Consolas"/>
              </a:rPr>
              <a:t>CELLS RUN</a:t>
            </a:r>
          </a:p>
          <a:p>
            <a:pPr algn="l">
              <a:lnSpc>
                <a:spcPct val="100000"/>
              </a:lnSpc>
              <a:spcBef>
                <a:spcPts val="0"/>
              </a:spcBef>
              <a:spcAft>
                <a:spcPts val="600"/>
              </a:spcAft>
            </a:pPr>
            <a:r>
              <a:rPr sz="3000" b="0">
                <a:solidFill>
                  <a:srgbClr val="2C6A4E"/>
                </a:solidFill>
                <a:latin typeface="Georgia"/>
              </a:rPr>
              <a:t>40</a:t>
            </a:r>
          </a:p>
          <a:p>
            <a:pPr algn="l">
              <a:lnSpc>
                <a:spcPct val="115000"/>
              </a:lnSpc>
              <a:spcBef>
                <a:spcPts val="0"/>
              </a:spcBef>
              <a:spcAft>
                <a:spcPts val="600"/>
              </a:spcAft>
            </a:pPr>
            <a:r>
              <a:rPr sz="1100" b="0">
                <a:solidFill>
                  <a:srgbClr val="5A636F"/>
                </a:solidFill>
                <a:latin typeface="Calibri"/>
              </a:rPr>
              <a:t>Phase A complete. Fault matrix and experiment C2 chained behind it.</a:t>
            </a:r>
          </a:p>
        </p:txBody>
      </p:sp>
      <p:sp>
        <p:nvSpPr>
          <p:cNvPr id="10" name="Rectangle 9"/>
          <p:cNvSpPr/>
          <p:nvPr/>
        </p:nvSpPr>
        <p:spPr>
          <a:xfrm>
            <a:off x="8947175" y="2103120"/>
            <a:ext cx="2467279" cy="1691640"/>
          </a:xfrm>
          <a:prstGeom prst="rect">
            <a:avLst/>
          </a:prstGeom>
          <a:solidFill>
            <a:srgbClr val="FFFFFF"/>
          </a:solidFill>
          <a:ln w="9525">
            <a:solidFill>
              <a:srgbClr val="D2D8E0"/>
            </a:solidFill>
          </a:ln>
          <a:effectLst/>
        </p:spPr>
        <p:txBody>
          <a:bodyPr rtlCol="0" anchor="ctr"/>
          <a:lstStyle/>
          <a:p>
            <a:pPr algn="ctr"/>
          </a:p>
        </p:txBody>
      </p:sp>
      <p:sp>
        <p:nvSpPr>
          <p:cNvPr id="11" name="TextBox 10"/>
          <p:cNvSpPr txBox="1"/>
          <p:nvPr/>
        </p:nvSpPr>
        <p:spPr>
          <a:xfrm>
            <a:off x="9148343" y="2304288"/>
            <a:ext cx="2064943" cy="1371600"/>
          </a:xfrm>
          <a:prstGeom prst="rect">
            <a:avLst/>
          </a:prstGeom>
          <a:noFill/>
        </p:spPr>
        <p:txBody>
          <a:bodyPr wrap="square" lIns="0" rIns="0" tIns="0" bIns="0">
            <a:spAutoFit/>
          </a:bodyPr>
          <a:lstStyle/>
          <a:p>
            <a:pPr algn="l">
              <a:lnSpc>
                <a:spcPct val="100000"/>
              </a:lnSpc>
              <a:spcBef>
                <a:spcPts val="0"/>
              </a:spcBef>
              <a:spcAft>
                <a:spcPts val="600"/>
              </a:spcAft>
            </a:pPr>
            <a:r>
              <a:rPr sz="1000" b="0">
                <a:solidFill>
                  <a:srgbClr val="8A929D"/>
                </a:solidFill>
                <a:latin typeface="Consolas"/>
              </a:rPr>
              <a:t>REAL BANK ROWS</a:t>
            </a:r>
          </a:p>
          <a:p>
            <a:pPr algn="l">
              <a:lnSpc>
                <a:spcPct val="100000"/>
              </a:lnSpc>
              <a:spcBef>
                <a:spcPts val="0"/>
              </a:spcBef>
              <a:spcAft>
                <a:spcPts val="600"/>
              </a:spcAft>
            </a:pPr>
            <a:r>
              <a:rPr sz="3000" b="0">
                <a:solidFill>
                  <a:srgbClr val="1F5C8B"/>
                </a:solidFill>
                <a:latin typeface="Georgia"/>
              </a:rPr>
              <a:t>0</a:t>
            </a:r>
          </a:p>
          <a:p>
            <a:pPr algn="l">
              <a:lnSpc>
                <a:spcPct val="115000"/>
              </a:lnSpc>
              <a:spcBef>
                <a:spcPts val="0"/>
              </a:spcBef>
              <a:spcAft>
                <a:spcPts val="600"/>
              </a:spcAft>
            </a:pPr>
            <a:r>
              <a:rPr sz="1100" b="0">
                <a:solidFill>
                  <a:srgbClr val="5A636F"/>
                </a:solidFill>
                <a:latin typeface="Calibri"/>
              </a:rPr>
              <a:t>20 000 synthetic customers, 33 751 accounts, no personal data at all.</a:t>
            </a:r>
          </a:p>
        </p:txBody>
      </p:sp>
      <p:sp>
        <p:nvSpPr>
          <p:cNvPr id="12" name="TextBox 11"/>
          <p:cNvSpPr txBox="1"/>
          <p:nvPr/>
        </p:nvSpPr>
        <p:spPr>
          <a:xfrm>
            <a:off x="777240" y="4160520"/>
            <a:ext cx="10637215" cy="2057400"/>
          </a:xfrm>
          <a:prstGeom prst="rect">
            <a:avLst/>
          </a:prstGeom>
          <a:noFill/>
        </p:spPr>
        <p:txBody>
          <a:bodyPr wrap="square" lIns="0" rIns="0" tIns="0" bIns="0">
            <a:spAutoFit/>
          </a:bodyPr>
          <a:lstStyle/>
          <a:p>
            <a:pPr>
              <a:lnSpc>
                <a:spcPct val="125000"/>
              </a:lnSpc>
              <a:spcAft>
                <a:spcPts val="1400"/>
              </a:spcAft>
            </a:pPr>
            <a:r>
              <a:rPr sz="1500" b="1">
                <a:solidFill>
                  <a:srgbClr val="14181F"/>
                </a:solidFill>
                <a:latin typeface="Calibri"/>
              </a:rPr>
              <a:t>4 700 lines of code.  </a:t>
            </a:r>
            <a:r>
              <a:rPr sz="1500">
                <a:solidFill>
                  <a:srgbClr val="5A636F"/>
                </a:solidFill>
                <a:latin typeface="Calibri"/>
              </a:rPr>
              <a:t>1 697 Java, 876 Flyway SQL, 2 115 harness — plus 3 300 lines of thesis-grade documentation across five chapters' worth of source material.</a:t>
            </a:r>
          </a:p>
          <a:p>
            <a:pPr>
              <a:lnSpc>
                <a:spcPct val="125000"/>
              </a:lnSpc>
              <a:spcAft>
                <a:spcPts val="1400"/>
              </a:spcAft>
            </a:pPr>
            <a:r>
              <a:rPr sz="1500" b="1">
                <a:solidFill>
                  <a:srgbClr val="14181F"/>
                </a:solidFill>
                <a:latin typeface="Calibri"/>
              </a:rPr>
              <a:t>Every number traces back to its raw data.  </a:t>
            </a:r>
            <a:r>
              <a:rPr sz="1500">
                <a:solidFill>
                  <a:srgbClr val="5A636F"/>
                </a:solidFill>
                <a:latin typeface="Calibri"/>
              </a:rPr>
              <a:t>Each run archives its ground truth, its topic export, its database counters and its load-generator output under results/&lt;run-id&gt;/.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METHOD</a:t>
            </a:r>
          </a:p>
          <a:p>
            <a:pPr algn="l">
              <a:lnSpc>
                <a:spcPct val="95000"/>
              </a:lnSpc>
              <a:spcBef>
                <a:spcPts val="0"/>
              </a:spcBef>
              <a:spcAft>
                <a:spcPts val="400"/>
              </a:spcAft>
            </a:pPr>
            <a:r>
              <a:rPr sz="3000" b="0">
                <a:solidFill>
                  <a:srgbClr val="14181F"/>
                </a:solidFill>
                <a:latin typeface="Georgia"/>
              </a:rPr>
              <a:t>How a claim becomes a measurement</a:t>
            </a:r>
          </a:p>
          <a:p>
            <a:pPr algn="l">
              <a:lnSpc>
                <a:spcPct val="100000"/>
              </a:lnSpc>
              <a:spcBef>
                <a:spcPts val="600"/>
              </a:spcBef>
              <a:spcAft>
                <a:spcPts val="600"/>
              </a:spcAft>
            </a:pPr>
            <a:r>
              <a:rPr sz="1400" b="0">
                <a:solidFill>
                  <a:srgbClr val="5A636F"/>
                </a:solidFill>
                <a:latin typeface="Calibri"/>
              </a:rPr>
              <a:t>Three decisions that make the eight modes comparable at all.</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sp>
        <p:nvSpPr>
          <p:cNvPr id="4" name="TextBox 3"/>
          <p:cNvSpPr txBox="1"/>
          <p:nvPr/>
        </p:nvSpPr>
        <p:spPr>
          <a:xfrm>
            <a:off x="777240" y="2148840"/>
            <a:ext cx="10637215" cy="4069080"/>
          </a:xfrm>
          <a:prstGeom prst="rect">
            <a:avLst/>
          </a:prstGeom>
          <a:noFill/>
        </p:spPr>
        <p:txBody>
          <a:bodyPr wrap="square" lIns="0" rIns="0" tIns="0" bIns="0">
            <a:spAutoFit/>
          </a:bodyPr>
          <a:lstStyle/>
          <a:p>
            <a:pPr>
              <a:lnSpc>
                <a:spcPct val="125000"/>
              </a:lnSpc>
              <a:spcAft>
                <a:spcPts val="1400"/>
              </a:spcAft>
            </a:pPr>
            <a:r>
              <a:rPr sz="1600" b="1">
                <a:solidFill>
                  <a:srgbClr val="14181F"/>
                </a:solidFill>
                <a:latin typeface="Calibri"/>
              </a:rPr>
              <a:t>Three baselines, not one.  </a:t>
            </a:r>
            <a:r>
              <a:rPr sz="1600">
                <a:solidFill>
                  <a:srgbClr val="5A636F"/>
                </a:solidFill>
                <a:latin typeface="Calibri"/>
              </a:rPr>
              <a:t>OFF measures the raw workload; BASELINE_GT adds only the measuring instrument. A mode's cost is reported as mode minus BASELINE_GT, so the apparatus's own overhead is quantified rather than hidden inside every result.</a:t>
            </a:r>
          </a:p>
          <a:p>
            <a:pPr>
              <a:lnSpc>
                <a:spcPct val="125000"/>
              </a:lnSpc>
              <a:spcAft>
                <a:spcPts val="1400"/>
              </a:spcAft>
            </a:pPr>
            <a:r>
              <a:rPr sz="1600" b="1">
                <a:solidFill>
                  <a:srgbClr val="14181F"/>
                </a:solidFill>
                <a:latin typeface="Calibri"/>
              </a:rPr>
              <a:t>An independent ground truth.  </a:t>
            </a:r>
            <a:r>
              <a:rPr sz="1600">
                <a:solidFill>
                  <a:srgbClr val="5A636F"/>
                </a:solidFill>
                <a:latin typeface="Calibri"/>
              </a:rPr>
              <a:t>A trigger writes every state change to GROUND_TRUTH inside the business transaction, so it is independent of every pipeline under test. Reconciliation uses the key (txn_id, new_status) — the only identifier that exists in all eight modes.</a:t>
            </a:r>
          </a:p>
          <a:p>
            <a:pPr>
              <a:lnSpc>
                <a:spcPct val="125000"/>
              </a:lnSpc>
              <a:spcAft>
                <a:spcPts val="1400"/>
              </a:spcAft>
            </a:pPr>
            <a:r>
              <a:rPr sz="1600" b="1">
                <a:solidFill>
                  <a:srgbClr val="14181F"/>
                </a:solidFill>
                <a:latin typeface="Calibri"/>
              </a:rPr>
              <a:t>Zero loss is reported as an upper bound.  </a:t>
            </a:r>
            <a:r>
              <a:rPr sz="1600">
                <a:solidFill>
                  <a:srgbClr val="5A636F"/>
                </a:solidFill>
                <a:latin typeface="Calibri"/>
              </a:rPr>
              <a:t>Claiming LR = 0 from a finite sample is unfalsifiable. With 90 000 transitions and no loss observed, the Rule of Three gives LR &lt; 33.3 ppm at 95 % confidence.</a:t>
            </a:r>
          </a:p>
          <a:p>
            <a:pPr>
              <a:lnSpc>
                <a:spcPct val="125000"/>
              </a:lnSpc>
              <a:spcAft>
                <a:spcPts val="1400"/>
              </a:spcAft>
            </a:pPr>
            <a:r>
              <a:rPr sz="1600" b="1">
                <a:solidFill>
                  <a:srgbClr val="14181F"/>
                </a:solidFill>
                <a:latin typeface="Calibri"/>
              </a:rPr>
              <a:t>Repetitions interleaved, mode order rotated.  </a:t>
            </a:r>
            <a:r>
              <a:rPr sz="1600">
                <a:solidFill>
                  <a:srgbClr val="5A636F"/>
                </a:solidFill>
                <a:latin typeface="Calibri"/>
              </a:rPr>
              <a:t>Running five repetitions of one mode back-to-back would confound the mode with the time of day it ran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RESULT 1 — RELIABILITY</a:t>
            </a:r>
          </a:p>
          <a:p>
            <a:pPr algn="l">
              <a:lnSpc>
                <a:spcPct val="95000"/>
              </a:lnSpc>
              <a:spcBef>
                <a:spcPts val="0"/>
              </a:spcBef>
              <a:spcAft>
                <a:spcPts val="400"/>
              </a:spcAft>
            </a:pPr>
            <a:r>
              <a:rPr sz="3000" b="0">
                <a:solidFill>
                  <a:srgbClr val="14181F"/>
                </a:solidFill>
                <a:latin typeface="Georgia"/>
              </a:rPr>
              <a:t>In clean running, the pipelines are indistinguishable</a:t>
            </a:r>
          </a:p>
          <a:p>
            <a:pPr algn="l">
              <a:lnSpc>
                <a:spcPct val="100000"/>
              </a:lnSpc>
              <a:spcBef>
                <a:spcPts val="600"/>
              </a:spcBef>
              <a:spcAft>
                <a:spcPts val="600"/>
              </a:spcAft>
            </a:pPr>
            <a:r>
              <a:rPr sz="1400" b="0">
                <a:solidFill>
                  <a:srgbClr val="5A636F"/>
                </a:solidFill>
                <a:latin typeface="Calibri"/>
              </a:rPr>
              <a:t>~90 000 state transitions per mode. Not one lost, duplicated, phantom or reordered.</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graphicFrame>
        <p:nvGraphicFramePr>
          <p:cNvPr id="4" name="Table 3"/>
          <p:cNvGraphicFramePr>
            <a:graphicFrameLocks noGrp="1"/>
          </p:cNvGraphicFramePr>
          <p:nvPr/>
        </p:nvGraphicFramePr>
        <p:xfrm>
          <a:off x="777240" y="2240280"/>
          <a:ext cx="10607040" cy="2176272"/>
        </p:xfrm>
        <a:graphic>
          <a:graphicData uri="http://schemas.openxmlformats.org/drawingml/2006/table">
            <a:tbl>
              <a:tblPr firstRow="1" bandRow="1">
                <a:tableStyleId>{5C22544A-7EE6-4342-B048-85BDC9FD1C3A}</a:tableStyleId>
              </a:tblPr>
              <a:tblGrid>
                <a:gridCol w="1920240"/>
                <a:gridCol w="1371600"/>
                <a:gridCol w="1371600"/>
                <a:gridCol w="1371600"/>
                <a:gridCol w="1371600"/>
                <a:gridCol w="1371600"/>
                <a:gridCol w="1828800"/>
              </a:tblGrid>
              <a:tr h="310896">
                <a:tc>
                  <a:txBody>
                    <a:bodyPr/>
                    <a:lstStyle/>
                    <a:p>
                      <a:pPr algn="l"/>
                      <a:r>
                        <a:rPr sz="1000" b="1">
                          <a:solidFill>
                            <a:srgbClr val="5A636F"/>
                          </a:solidFill>
                          <a:latin typeface="Consolas"/>
                        </a:rPr>
                        <a:t>Mode</a:t>
                      </a:r>
                    </a:p>
                  </a:txBody>
                  <a:tcPr anchor="ctr" marL="91440" marR="91440" marT="0" marB="0">
                    <a:solidFill>
                      <a:srgbClr val="EFF2F5"/>
                    </a:solidFill>
                  </a:tcPr>
                </a:tc>
                <a:tc>
                  <a:txBody>
                    <a:bodyPr/>
                    <a:lstStyle/>
                    <a:p>
                      <a:pPr algn="r"/>
                      <a:r>
                        <a:rPr sz="1000" b="1">
                          <a:solidFill>
                            <a:srgbClr val="5A636F"/>
                          </a:solidFill>
                          <a:latin typeface="Consolas"/>
                        </a:rPr>
                        <a:t>Transitions</a:t>
                      </a:r>
                    </a:p>
                  </a:txBody>
                  <a:tcPr anchor="ctr" marL="91440" marR="91440" marT="0" marB="0">
                    <a:solidFill>
                      <a:srgbClr val="EFF2F5"/>
                    </a:solidFill>
                  </a:tcPr>
                </a:tc>
                <a:tc>
                  <a:txBody>
                    <a:bodyPr/>
                    <a:lstStyle/>
                    <a:p>
                      <a:pPr algn="r"/>
                      <a:r>
                        <a:rPr sz="1000" b="1">
                          <a:solidFill>
                            <a:srgbClr val="5A636F"/>
                          </a:solidFill>
                          <a:latin typeface="Consolas"/>
                        </a:rPr>
                        <a:t>Missing</a:t>
                      </a:r>
                    </a:p>
                  </a:txBody>
                  <a:tcPr anchor="ctr" marL="91440" marR="91440" marT="0" marB="0">
                    <a:solidFill>
                      <a:srgbClr val="EFF2F5"/>
                    </a:solidFill>
                  </a:tcPr>
                </a:tc>
                <a:tc>
                  <a:txBody>
                    <a:bodyPr/>
                    <a:lstStyle/>
                    <a:p>
                      <a:pPr algn="r"/>
                      <a:r>
                        <a:rPr sz="1000" b="1">
                          <a:solidFill>
                            <a:srgbClr val="5A636F"/>
                          </a:solidFill>
                          <a:latin typeface="Consolas"/>
                        </a:rPr>
                        <a:t>Phantom</a:t>
                      </a:r>
                    </a:p>
                  </a:txBody>
                  <a:tcPr anchor="ctr" marL="91440" marR="91440" marT="0" marB="0">
                    <a:solidFill>
                      <a:srgbClr val="EFF2F5"/>
                    </a:solidFill>
                  </a:tcPr>
                </a:tc>
                <a:tc>
                  <a:txBody>
                    <a:bodyPr/>
                    <a:lstStyle/>
                    <a:p>
                      <a:pPr algn="r"/>
                      <a:r>
                        <a:rPr sz="1000" b="1">
                          <a:solidFill>
                            <a:srgbClr val="5A636F"/>
                          </a:solidFill>
                          <a:latin typeface="Consolas"/>
                        </a:rPr>
                        <a:t>Duplicate</a:t>
                      </a:r>
                    </a:p>
                  </a:txBody>
                  <a:tcPr anchor="ctr" marL="91440" marR="91440" marT="0" marB="0">
                    <a:solidFill>
                      <a:srgbClr val="EFF2F5"/>
                    </a:solidFill>
                  </a:tcPr>
                </a:tc>
                <a:tc>
                  <a:txBody>
                    <a:bodyPr/>
                    <a:lstStyle/>
                    <a:p>
                      <a:pPr algn="r"/>
                      <a:r>
                        <a:rPr sz="1000" b="1">
                          <a:solidFill>
                            <a:srgbClr val="5A636F"/>
                          </a:solidFill>
                          <a:latin typeface="Consolas"/>
                        </a:rPr>
                        <a:t>Ordering</a:t>
                      </a:r>
                    </a:p>
                  </a:txBody>
                  <a:tcPr anchor="ctr" marL="91440" marR="91440" marT="0" marB="0">
                    <a:solidFill>
                      <a:srgbClr val="EFF2F5"/>
                    </a:solidFill>
                  </a:tcPr>
                </a:tc>
                <a:tc>
                  <a:txBody>
                    <a:bodyPr/>
                    <a:lstStyle/>
                    <a:p>
                      <a:pPr algn="r"/>
                      <a:r>
                        <a:rPr sz="1000" b="1">
                          <a:solidFill>
                            <a:srgbClr val="5A636F"/>
                          </a:solidFill>
                          <a:latin typeface="Consolas"/>
                        </a:rPr>
                        <a:t>95 % upper bound</a:t>
                      </a:r>
                    </a:p>
                  </a:txBody>
                  <a:tcPr anchor="ctr" marL="91440" marR="91440" marT="0" marB="0">
                    <a:solidFill>
                      <a:srgbClr val="EFF2F5"/>
                    </a:solidFill>
                  </a:tcPr>
                </a:tc>
              </a:tr>
              <a:tr h="310896">
                <a:tc>
                  <a:txBody>
                    <a:bodyPr/>
                    <a:lstStyle/>
                    <a:p>
                      <a:pPr algn="l"/>
                      <a:r>
                        <a:rPr sz="1300" b="0">
                          <a:solidFill>
                            <a:srgbClr val="14181F"/>
                          </a:solidFill>
                          <a:latin typeface="Consolas"/>
                        </a:rPr>
                        <a:t>AQ</a:t>
                      </a:r>
                    </a:p>
                  </a:txBody>
                  <a:tcPr anchor="ctr" marL="91440" marR="91440" marT="0" marB="0">
                    <a:solidFill>
                      <a:srgbClr val="FFFFFF"/>
                    </a:solidFill>
                  </a:tcPr>
                </a:tc>
                <a:tc>
                  <a:txBody>
                    <a:bodyPr/>
                    <a:lstStyle/>
                    <a:p>
                      <a:pPr algn="r"/>
                      <a:r>
                        <a:rPr sz="1300" b="0">
                          <a:solidFill>
                            <a:srgbClr val="14181F"/>
                          </a:solidFill>
                          <a:latin typeface="Consolas"/>
                        </a:rPr>
                        <a:t>89 643</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&lt; 33.5 ppm</a:t>
                      </a:r>
                    </a:p>
                  </a:txBody>
                  <a:tcPr anchor="ctr" marL="91440" marR="91440" marT="0" marB="0">
                    <a:solidFill>
                      <a:srgbClr val="FFFFFF"/>
                    </a:solidFill>
                  </a:tcPr>
                </a:tc>
              </a:tr>
              <a:tr h="310896">
                <a:tc>
                  <a:txBody>
                    <a:bodyPr/>
                    <a:lstStyle/>
                    <a:p>
                      <a:pPr algn="l"/>
                      <a:r>
                        <a:rPr sz="1300" b="0">
                          <a:solidFill>
                            <a:srgbClr val="14181F"/>
                          </a:solidFill>
                          <a:latin typeface="Consolas"/>
                        </a:rPr>
                        <a:t>WRAPPER_B1</a:t>
                      </a:r>
                    </a:p>
                  </a:txBody>
                  <a:tcPr anchor="ctr" marL="91440" marR="91440" marT="0" marB="0">
                    <a:solidFill>
                      <a:srgbClr val="FFFFFF"/>
                    </a:solidFill>
                  </a:tcPr>
                </a:tc>
                <a:tc>
                  <a:txBody>
                    <a:bodyPr/>
                    <a:lstStyle/>
                    <a:p>
                      <a:pPr algn="r"/>
                      <a:r>
                        <a:rPr sz="1300" b="0">
                          <a:solidFill>
                            <a:srgbClr val="14181F"/>
                          </a:solidFill>
                          <a:latin typeface="Consolas"/>
                        </a:rPr>
                        <a:t>89 511</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&lt; 33.5 ppm</a:t>
                      </a:r>
                    </a:p>
                  </a:txBody>
                  <a:tcPr anchor="ctr" marL="91440" marR="91440" marT="0" marB="0">
                    <a:solidFill>
                      <a:srgbClr val="FFFFFF"/>
                    </a:solidFill>
                  </a:tcPr>
                </a:tc>
              </a:tr>
              <a:tr h="310896">
                <a:tc>
                  <a:txBody>
                    <a:bodyPr/>
                    <a:lstStyle/>
                    <a:p>
                      <a:pPr algn="l"/>
                      <a:r>
                        <a:rPr sz="1300" b="0">
                          <a:solidFill>
                            <a:srgbClr val="14181F"/>
                          </a:solidFill>
                          <a:latin typeface="Consolas"/>
                        </a:rPr>
                        <a:t>WRAPPER_B2</a:t>
                      </a:r>
                    </a:p>
                  </a:txBody>
                  <a:tcPr anchor="ctr" marL="91440" marR="91440" marT="0" marB="0">
                    <a:solidFill>
                      <a:srgbClr val="FFFFFF"/>
                    </a:solidFill>
                  </a:tcPr>
                </a:tc>
                <a:tc>
                  <a:txBody>
                    <a:bodyPr/>
                    <a:lstStyle/>
                    <a:p>
                      <a:pPr algn="r"/>
                      <a:r>
                        <a:rPr sz="1300" b="0">
                          <a:solidFill>
                            <a:srgbClr val="14181F"/>
                          </a:solidFill>
                          <a:latin typeface="Consolas"/>
                        </a:rPr>
                        <a:t>89 535</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&lt; 33.5 ppm</a:t>
                      </a:r>
                    </a:p>
                  </a:txBody>
                  <a:tcPr anchor="ctr" marL="91440" marR="91440" marT="0" marB="0">
                    <a:solidFill>
                      <a:srgbClr val="FFFFFF"/>
                    </a:solidFill>
                  </a:tcPr>
                </a:tc>
              </a:tr>
              <a:tr h="310896">
                <a:tc>
                  <a:txBody>
                    <a:bodyPr/>
                    <a:lstStyle/>
                    <a:p>
                      <a:pPr algn="l"/>
                      <a:r>
                        <a:rPr sz="1300" b="0">
                          <a:solidFill>
                            <a:srgbClr val="14181F"/>
                          </a:solidFill>
                          <a:latin typeface="Consolas"/>
                        </a:rPr>
                        <a:t>WRAPPER_B3</a:t>
                      </a:r>
                    </a:p>
                  </a:txBody>
                  <a:tcPr anchor="ctr" marL="91440" marR="91440" marT="0" marB="0">
                    <a:solidFill>
                      <a:srgbClr val="FFFFFF"/>
                    </a:solidFill>
                  </a:tcPr>
                </a:tc>
                <a:tc>
                  <a:txBody>
                    <a:bodyPr/>
                    <a:lstStyle/>
                    <a:p>
                      <a:pPr algn="r"/>
                      <a:r>
                        <a:rPr sz="1300" b="0">
                          <a:solidFill>
                            <a:srgbClr val="14181F"/>
                          </a:solidFill>
                          <a:latin typeface="Consolas"/>
                        </a:rPr>
                        <a:t>90 015</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&lt; 33.3 ppm</a:t>
                      </a:r>
                    </a:p>
                  </a:txBody>
                  <a:tcPr anchor="ctr" marL="91440" marR="91440" marT="0" marB="0">
                    <a:solidFill>
                      <a:srgbClr val="FFFFFF"/>
                    </a:solidFill>
                  </a:tcPr>
                </a:tc>
              </a:tr>
              <a:tr h="310896">
                <a:tc>
                  <a:txBody>
                    <a:bodyPr/>
                    <a:lstStyle/>
                    <a:p>
                      <a:pPr algn="l"/>
                      <a:r>
                        <a:rPr sz="1300" b="0">
                          <a:solidFill>
                            <a:srgbClr val="14181F"/>
                          </a:solidFill>
                          <a:latin typeface="Consolas"/>
                        </a:rPr>
                        <a:t>CDC</a:t>
                      </a:r>
                    </a:p>
                  </a:txBody>
                  <a:tcPr anchor="ctr" marL="91440" marR="91440" marT="0" marB="0">
                    <a:solidFill>
                      <a:srgbClr val="FFFFFF"/>
                    </a:solidFill>
                  </a:tcPr>
                </a:tc>
                <a:tc>
                  <a:txBody>
                    <a:bodyPr/>
                    <a:lstStyle/>
                    <a:p>
                      <a:pPr algn="r"/>
                      <a:r>
                        <a:rPr sz="1300" b="0">
                          <a:solidFill>
                            <a:srgbClr val="14181F"/>
                          </a:solidFill>
                          <a:latin typeface="Consolas"/>
                        </a:rPr>
                        <a:t>90 009</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&lt; 33.3 ppm</a:t>
                      </a:r>
                    </a:p>
                  </a:txBody>
                  <a:tcPr anchor="ctr" marL="91440" marR="91440" marT="0" marB="0">
                    <a:solidFill>
                      <a:srgbClr val="FFFFFF"/>
                    </a:solidFill>
                  </a:tcPr>
                </a:tc>
              </a:tr>
              <a:tr h="310896">
                <a:tc>
                  <a:txBody>
                    <a:bodyPr/>
                    <a:lstStyle/>
                    <a:p>
                      <a:pPr algn="l"/>
                      <a:r>
                        <a:rPr sz="1300" b="0">
                          <a:solidFill>
                            <a:srgbClr val="14181F"/>
                          </a:solidFill>
                          <a:latin typeface="Consolas"/>
                        </a:rPr>
                        <a:t>HYBRID</a:t>
                      </a:r>
                    </a:p>
                  </a:txBody>
                  <a:tcPr anchor="ctr" marL="91440" marR="91440" marT="0" marB="0">
                    <a:solidFill>
                      <a:srgbClr val="FFFFFF"/>
                    </a:solidFill>
                  </a:tcPr>
                </a:tc>
                <a:tc>
                  <a:txBody>
                    <a:bodyPr/>
                    <a:lstStyle/>
                    <a:p>
                      <a:pPr algn="r"/>
                      <a:r>
                        <a:rPr sz="1300" b="0">
                          <a:solidFill>
                            <a:srgbClr val="14181F"/>
                          </a:solidFill>
                          <a:latin typeface="Consolas"/>
                        </a:rPr>
                        <a:t>89 997</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0</a:t>
                      </a:r>
                    </a:p>
                  </a:txBody>
                  <a:tcPr anchor="ctr" marL="91440" marR="91440" marT="0" marB="0">
                    <a:solidFill>
                      <a:srgbClr val="FFFFFF"/>
                    </a:solidFill>
                  </a:tcPr>
                </a:tc>
                <a:tc>
                  <a:txBody>
                    <a:bodyPr/>
                    <a:lstStyle/>
                    <a:p>
                      <a:pPr algn="r"/>
                      <a:r>
                        <a:rPr sz="1300" b="0">
                          <a:solidFill>
                            <a:srgbClr val="14181F"/>
                          </a:solidFill>
                          <a:latin typeface="Consolas"/>
                        </a:rPr>
                        <a:t>&lt; 33.3 ppm</a:t>
                      </a:r>
                    </a:p>
                  </a:txBody>
                  <a:tcPr anchor="ctr" marL="91440" marR="91440" marT="0" marB="0">
                    <a:solidFill>
                      <a:srgbClr val="FFFFFF"/>
                    </a:solidFill>
                  </a:tcPr>
                </a:tc>
              </a:tr>
            </a:tbl>
          </a:graphicData>
        </a:graphic>
      </p:graphicFrame>
      <p:sp>
        <p:nvSpPr>
          <p:cNvPr id="5" name="TextBox 4"/>
          <p:cNvSpPr txBox="1"/>
          <p:nvPr/>
        </p:nvSpPr>
        <p:spPr>
          <a:xfrm>
            <a:off x="777240" y="4937760"/>
            <a:ext cx="10607040" cy="1280160"/>
          </a:xfrm>
          <a:prstGeom prst="rect">
            <a:avLst/>
          </a:prstGeom>
          <a:noFill/>
        </p:spPr>
        <p:txBody>
          <a:bodyPr wrap="square" lIns="0" rIns="0" tIns="0" bIns="0">
            <a:spAutoFit/>
          </a:bodyPr>
          <a:lstStyle/>
          <a:p>
            <a:pPr algn="l">
              <a:lnSpc>
                <a:spcPct val="100000"/>
              </a:lnSpc>
              <a:spcBef>
                <a:spcPts val="0"/>
              </a:spcBef>
              <a:spcAft>
                <a:spcPts val="800"/>
              </a:spcAft>
            </a:pPr>
            <a:r>
              <a:rPr sz="1700" b="1">
                <a:solidFill>
                  <a:srgbClr val="14181F"/>
                </a:solidFill>
                <a:latin typeface="Calibri"/>
              </a:rPr>
              <a:t>This is the finding, not a shortfall.</a:t>
            </a:r>
          </a:p>
          <a:p>
            <a:pPr algn="l">
              <a:lnSpc>
                <a:spcPct val="125000"/>
              </a:lnSpc>
              <a:spcBef>
                <a:spcPts val="0"/>
              </a:spcBef>
              <a:spcAft>
                <a:spcPts val="600"/>
              </a:spcAft>
            </a:pPr>
            <a:r>
              <a:rPr sz="1500" b="0">
                <a:solidFill>
                  <a:srgbClr val="5A636F"/>
                </a:solidFill>
                <a:latin typeface="Calibri"/>
              </a:rPr>
              <a:t>Steady-state running cannot separate these mechanisms on reliability — which is exactly why claim C1 has to rest on the fault matrix. The faults are running now.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RESULT 2 — DATABASE COST</a:t>
            </a:r>
          </a:p>
          <a:p>
            <a:pPr algn="l">
              <a:lnSpc>
                <a:spcPct val="95000"/>
              </a:lnSpc>
              <a:spcBef>
                <a:spcPts val="0"/>
              </a:spcBef>
              <a:spcAft>
                <a:spcPts val="400"/>
              </a:spcAft>
            </a:pPr>
            <a:r>
              <a:rPr sz="3000" b="0">
                <a:solidFill>
                  <a:srgbClr val="14181F"/>
                </a:solidFill>
                <a:latin typeface="Georgia"/>
              </a:rPr>
              <a:t>Redo per transition splits along one clean line</a:t>
            </a:r>
          </a:p>
          <a:p>
            <a:pPr algn="l">
              <a:lnSpc>
                <a:spcPct val="100000"/>
              </a:lnSpc>
              <a:spcBef>
                <a:spcPts val="600"/>
              </a:spcBef>
              <a:spcAft>
                <a:spcPts val="600"/>
              </a:spcAft>
            </a:pPr>
            <a:r>
              <a:rPr sz="1400" b="0">
                <a:solidFill>
                  <a:srgbClr val="5A636F"/>
                </a:solidFill>
                <a:latin typeface="Calibri"/>
              </a:rPr>
              <a:t>Every mechanism that writes the event into the database pays for it. Every one that does not, does not.</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graphicFrame>
        <p:nvGraphicFramePr>
          <p:cNvPr id="4" name="Table 3"/>
          <p:cNvGraphicFramePr>
            <a:graphicFrameLocks noGrp="1"/>
          </p:cNvGraphicFramePr>
          <p:nvPr/>
        </p:nvGraphicFramePr>
        <p:xfrm>
          <a:off x="777240" y="2240280"/>
          <a:ext cx="10058400" cy="2487168"/>
        </p:xfrm>
        <a:graphic>
          <a:graphicData uri="http://schemas.openxmlformats.org/drawingml/2006/table">
            <a:tbl>
              <a:tblPr firstRow="1" bandRow="1">
                <a:tableStyleId>{5C22544A-7EE6-4342-B048-85BDC9FD1C3A}</a:tableStyleId>
              </a:tblPr>
              <a:tblGrid>
                <a:gridCol w="2194560"/>
                <a:gridCol w="1920240"/>
                <a:gridCol w="2651760"/>
                <a:gridCol w="1828800"/>
                <a:gridCol w="1463040"/>
              </a:tblGrid>
              <a:tr h="310896">
                <a:tc>
                  <a:txBody>
                    <a:bodyPr/>
                    <a:lstStyle/>
                    <a:p>
                      <a:pPr algn="l"/>
                      <a:r>
                        <a:rPr sz="1000" b="1">
                          <a:solidFill>
                            <a:srgbClr val="5A636F"/>
                          </a:solidFill>
                          <a:latin typeface="Consolas"/>
                        </a:rPr>
                        <a:t>Mode</a:t>
                      </a:r>
                    </a:p>
                  </a:txBody>
                  <a:tcPr anchor="ctr" marL="91440" marR="91440" marT="0" marB="0">
                    <a:solidFill>
                      <a:srgbClr val="EFF2F5"/>
                    </a:solidFill>
                  </a:tcPr>
                </a:tc>
                <a:tc>
                  <a:txBody>
                    <a:bodyPr/>
                    <a:lstStyle/>
                    <a:p>
                      <a:pPr algn="r"/>
                      <a:r>
                        <a:rPr sz="1000" b="1">
                          <a:solidFill>
                            <a:srgbClr val="5A636F"/>
                          </a:solidFill>
                          <a:latin typeface="Consolas"/>
                        </a:rPr>
                        <a:t>Median bytes</a:t>
                      </a:r>
                    </a:p>
                  </a:txBody>
                  <a:tcPr anchor="ctr" marL="91440" marR="91440" marT="0" marB="0">
                    <a:solidFill>
                      <a:srgbClr val="EFF2F5"/>
                    </a:solidFill>
                  </a:tcPr>
                </a:tc>
                <a:tc>
                  <a:txBody>
                    <a:bodyPr/>
                    <a:lstStyle/>
                    <a:p>
                      <a:pPr algn="r"/>
                      <a:r>
                        <a:rPr sz="1000" b="1">
                          <a:solidFill>
                            <a:srgbClr val="5A636F"/>
                          </a:solidFill>
                          <a:latin typeface="Consolas"/>
                        </a:rPr>
                        <a:t>IQR</a:t>
                      </a:r>
                    </a:p>
                  </a:txBody>
                  <a:tcPr anchor="ctr" marL="91440" marR="91440" marT="0" marB="0">
                    <a:solidFill>
                      <a:srgbClr val="EFF2F5"/>
                    </a:solidFill>
                  </a:tcPr>
                </a:tc>
                <a:tc>
                  <a:txBody>
                    <a:bodyPr/>
                    <a:lstStyle/>
                    <a:p>
                      <a:pPr algn="r"/>
                      <a:r>
                        <a:rPr sz="1000" b="1">
                          <a:solidFill>
                            <a:srgbClr val="5A636F"/>
                          </a:solidFill>
                          <a:latin typeface="Consolas"/>
                        </a:rPr>
                        <a:t>vs control</a:t>
                      </a:r>
                    </a:p>
                  </a:txBody>
                  <a:tcPr anchor="ctr" marL="91440" marR="91440" marT="0" marB="0">
                    <a:solidFill>
                      <a:srgbClr val="EFF2F5"/>
                    </a:solidFill>
                  </a:tcPr>
                </a:tc>
                <a:tc>
                  <a:txBody>
                    <a:bodyPr/>
                    <a:lstStyle/>
                    <a:p>
                      <a:pPr algn="r"/>
                      <a:r>
                        <a:rPr sz="1000" b="1">
                          <a:solidFill>
                            <a:srgbClr val="5A636F"/>
                          </a:solidFill>
                          <a:latin typeface="Consolas"/>
                        </a:rPr>
                        <a:t>Exact p</a:t>
                      </a:r>
                    </a:p>
                  </a:txBody>
                  <a:tcPr anchor="ctr" marL="91440" marR="91440" marT="0" marB="0">
                    <a:solidFill>
                      <a:srgbClr val="EFF2F5"/>
                    </a:solidFill>
                  </a:tcPr>
                </a:tc>
              </a:tr>
              <a:tr h="310896">
                <a:tc>
                  <a:txBody>
                    <a:bodyPr/>
                    <a:lstStyle/>
                    <a:p>
                      <a:pPr algn="l"/>
                      <a:r>
                        <a:rPr sz="1300" b="0">
                          <a:solidFill>
                            <a:srgbClr val="14181F"/>
                          </a:solidFill>
                          <a:latin typeface="Consolas"/>
                        </a:rPr>
                        <a:t>BASELINE_GT</a:t>
                      </a:r>
                    </a:p>
                  </a:txBody>
                  <a:tcPr anchor="ctr" marL="91440" marR="91440" marT="0" marB="0">
                    <a:solidFill>
                      <a:srgbClr val="E2EAF1"/>
                    </a:solidFill>
                  </a:tcPr>
                </a:tc>
                <a:tc>
                  <a:txBody>
                    <a:bodyPr/>
                    <a:lstStyle/>
                    <a:p>
                      <a:pPr algn="r"/>
                      <a:r>
                        <a:rPr sz="1300" b="0">
                          <a:solidFill>
                            <a:srgbClr val="14181F"/>
                          </a:solidFill>
                          <a:latin typeface="Consolas"/>
                        </a:rPr>
                        <a:t>3 874</a:t>
                      </a:r>
                    </a:p>
                  </a:txBody>
                  <a:tcPr anchor="ctr" marL="91440" marR="91440" marT="0" marB="0">
                    <a:solidFill>
                      <a:srgbClr val="E2EAF1"/>
                    </a:solidFill>
                  </a:tcPr>
                </a:tc>
                <a:tc>
                  <a:txBody>
                    <a:bodyPr/>
                    <a:lstStyle/>
                    <a:p>
                      <a:pPr algn="r"/>
                      <a:r>
                        <a:rPr sz="1300" b="0">
                          <a:solidFill>
                            <a:srgbClr val="14181F"/>
                          </a:solidFill>
                          <a:latin typeface="Consolas"/>
                        </a:rPr>
                        <a:t>3 806 – 3 878</a:t>
                      </a:r>
                    </a:p>
                  </a:txBody>
                  <a:tcPr anchor="ctr" marL="91440" marR="91440" marT="0" marB="0">
                    <a:solidFill>
                      <a:srgbClr val="E2EAF1"/>
                    </a:solidFill>
                  </a:tcPr>
                </a:tc>
                <a:tc>
                  <a:txBody>
                    <a:bodyPr/>
                    <a:lstStyle/>
                    <a:p>
                      <a:pPr algn="r"/>
                      <a:r>
                        <a:rPr sz="1300" b="0">
                          <a:solidFill>
                            <a:srgbClr val="14181F"/>
                          </a:solidFill>
                          <a:latin typeface="Consolas"/>
                        </a:rPr>
                        <a:t>control</a:t>
                      </a:r>
                    </a:p>
                  </a:txBody>
                  <a:tcPr anchor="ctr" marL="91440" marR="91440" marT="0" marB="0">
                    <a:solidFill>
                      <a:srgbClr val="E2EAF1"/>
                    </a:solidFill>
                  </a:tcPr>
                </a:tc>
                <a:tc>
                  <a:txBody>
                    <a:bodyPr/>
                    <a:lstStyle/>
                    <a:p>
                      <a:pPr algn="r"/>
                      <a:r>
                        <a:rPr sz="1300" b="0">
                          <a:solidFill>
                            <a:srgbClr val="14181F"/>
                          </a:solidFill>
                          <a:latin typeface="Consolas"/>
                        </a:rPr>
                        <a:t>—</a:t>
                      </a:r>
                    </a:p>
                  </a:txBody>
                  <a:tcPr anchor="ctr" marL="91440" marR="91440" marT="0" marB="0">
                    <a:solidFill>
                      <a:srgbClr val="E2EAF1"/>
                    </a:solidFill>
                  </a:tcPr>
                </a:tc>
              </a:tr>
              <a:tr h="310896">
                <a:tc>
                  <a:txBody>
                    <a:bodyPr/>
                    <a:lstStyle/>
                    <a:p>
                      <a:pPr algn="l"/>
                      <a:r>
                        <a:rPr sz="1300" b="0">
                          <a:solidFill>
                            <a:srgbClr val="14181F"/>
                          </a:solidFill>
                          <a:latin typeface="Consolas"/>
                        </a:rPr>
                        <a:t>AQ</a:t>
                      </a:r>
                    </a:p>
                  </a:txBody>
                  <a:tcPr anchor="ctr" marL="91440" marR="91440" marT="0" marB="0">
                    <a:solidFill>
                      <a:srgbClr val="FFFFFF"/>
                    </a:solidFill>
                  </a:tcPr>
                </a:tc>
                <a:tc>
                  <a:txBody>
                    <a:bodyPr/>
                    <a:lstStyle/>
                    <a:p>
                      <a:pPr algn="r"/>
                      <a:r>
                        <a:rPr sz="1300" b="0">
                          <a:solidFill>
                            <a:srgbClr val="14181F"/>
                          </a:solidFill>
                          <a:latin typeface="Consolas"/>
                        </a:rPr>
                        <a:t>10 515</a:t>
                      </a:r>
                    </a:p>
                  </a:txBody>
                  <a:tcPr anchor="ctr" marL="91440" marR="91440" marT="0" marB="0">
                    <a:solidFill>
                      <a:srgbClr val="FFFFFF"/>
                    </a:solidFill>
                  </a:tcPr>
                </a:tc>
                <a:tc>
                  <a:txBody>
                    <a:bodyPr/>
                    <a:lstStyle/>
                    <a:p>
                      <a:pPr algn="r"/>
                      <a:r>
                        <a:rPr sz="1300" b="0">
                          <a:solidFill>
                            <a:srgbClr val="14181F"/>
                          </a:solidFill>
                          <a:latin typeface="Consolas"/>
                        </a:rPr>
                        <a:t>10 381 – 10 729</a:t>
                      </a:r>
                    </a:p>
                  </a:txBody>
                  <a:tcPr anchor="ctr" marL="91440" marR="91440" marT="0" marB="0">
                    <a:solidFill>
                      <a:srgbClr val="FFFFFF"/>
                    </a:solidFill>
                  </a:tcPr>
                </a:tc>
                <a:tc>
                  <a:txBody>
                    <a:bodyPr/>
                    <a:lstStyle/>
                    <a:p>
                      <a:pPr algn="r"/>
                      <a:r>
                        <a:rPr sz="1300" b="0">
                          <a:solidFill>
                            <a:srgbClr val="14181F"/>
                          </a:solidFill>
                          <a:latin typeface="Consolas"/>
                        </a:rPr>
                        <a:t>+171.4 %</a:t>
                      </a:r>
                    </a:p>
                  </a:txBody>
                  <a:tcPr anchor="ctr" marL="91440" marR="91440" marT="0" marB="0">
                    <a:solidFill>
                      <a:srgbClr val="FFFFFF"/>
                    </a:solidFill>
                  </a:tcPr>
                </a:tc>
                <a:tc>
                  <a:txBody>
                    <a:bodyPr/>
                    <a:lstStyle/>
                    <a:p>
                      <a:pPr algn="r"/>
                      <a:r>
                        <a:rPr sz="1300" b="0">
                          <a:solidFill>
                            <a:srgbClr val="14181F"/>
                          </a:solidFill>
                          <a:latin typeface="Consolas"/>
                        </a:rPr>
                        <a:t>0.0079</a:t>
                      </a:r>
                    </a:p>
                  </a:txBody>
                  <a:tcPr anchor="ctr" marL="91440" marR="91440" marT="0" marB="0">
                    <a:solidFill>
                      <a:srgbClr val="FFFFFF"/>
                    </a:solidFill>
                  </a:tcPr>
                </a:tc>
              </a:tr>
              <a:tr h="310896">
                <a:tc>
                  <a:txBody>
                    <a:bodyPr/>
                    <a:lstStyle/>
                    <a:p>
                      <a:pPr algn="l"/>
                      <a:r>
                        <a:rPr sz="1300" b="0">
                          <a:solidFill>
                            <a:srgbClr val="14181F"/>
                          </a:solidFill>
                          <a:latin typeface="Consolas"/>
                        </a:rPr>
                        <a:t>WRAPPER_B3</a:t>
                      </a:r>
                    </a:p>
                  </a:txBody>
                  <a:tcPr anchor="ctr" marL="91440" marR="91440" marT="0" marB="0">
                    <a:solidFill>
                      <a:srgbClr val="FFFFFF"/>
                    </a:solidFill>
                  </a:tcPr>
                </a:tc>
                <a:tc>
                  <a:txBody>
                    <a:bodyPr/>
                    <a:lstStyle/>
                    <a:p>
                      <a:pPr algn="r"/>
                      <a:r>
                        <a:rPr sz="1300" b="0">
                          <a:solidFill>
                            <a:srgbClr val="14181F"/>
                          </a:solidFill>
                          <a:latin typeface="Consolas"/>
                        </a:rPr>
                        <a:t>8 153</a:t>
                      </a:r>
                    </a:p>
                  </a:txBody>
                  <a:tcPr anchor="ctr" marL="91440" marR="91440" marT="0" marB="0">
                    <a:solidFill>
                      <a:srgbClr val="FFFFFF"/>
                    </a:solidFill>
                  </a:tcPr>
                </a:tc>
                <a:tc>
                  <a:txBody>
                    <a:bodyPr/>
                    <a:lstStyle/>
                    <a:p>
                      <a:pPr algn="r"/>
                      <a:r>
                        <a:rPr sz="1300" b="0">
                          <a:solidFill>
                            <a:srgbClr val="14181F"/>
                          </a:solidFill>
                          <a:latin typeface="Consolas"/>
                        </a:rPr>
                        <a:t>8 148 – 8 295</a:t>
                      </a:r>
                    </a:p>
                  </a:txBody>
                  <a:tcPr anchor="ctr" marL="91440" marR="91440" marT="0" marB="0">
                    <a:solidFill>
                      <a:srgbClr val="FFFFFF"/>
                    </a:solidFill>
                  </a:tcPr>
                </a:tc>
                <a:tc>
                  <a:txBody>
                    <a:bodyPr/>
                    <a:lstStyle/>
                    <a:p>
                      <a:pPr algn="r"/>
                      <a:r>
                        <a:rPr sz="1300" b="0">
                          <a:solidFill>
                            <a:srgbClr val="14181F"/>
                          </a:solidFill>
                          <a:latin typeface="Consolas"/>
                        </a:rPr>
                        <a:t>+110.4 %</a:t>
                      </a:r>
                    </a:p>
                  </a:txBody>
                  <a:tcPr anchor="ctr" marL="91440" marR="91440" marT="0" marB="0">
                    <a:solidFill>
                      <a:srgbClr val="FFFFFF"/>
                    </a:solidFill>
                  </a:tcPr>
                </a:tc>
                <a:tc>
                  <a:txBody>
                    <a:bodyPr/>
                    <a:lstStyle/>
                    <a:p>
                      <a:pPr algn="r"/>
                      <a:r>
                        <a:rPr sz="1300" b="0">
                          <a:solidFill>
                            <a:srgbClr val="14181F"/>
                          </a:solidFill>
                          <a:latin typeface="Consolas"/>
                        </a:rPr>
                        <a:t>0.0079</a:t>
                      </a:r>
                    </a:p>
                  </a:txBody>
                  <a:tcPr anchor="ctr" marL="91440" marR="91440" marT="0" marB="0">
                    <a:solidFill>
                      <a:srgbClr val="FFFFFF"/>
                    </a:solidFill>
                  </a:tcPr>
                </a:tc>
              </a:tr>
              <a:tr h="310896">
                <a:tc>
                  <a:txBody>
                    <a:bodyPr/>
                    <a:lstStyle/>
                    <a:p>
                      <a:pPr algn="l"/>
                      <a:r>
                        <a:rPr sz="1300" b="0">
                          <a:solidFill>
                            <a:srgbClr val="14181F"/>
                          </a:solidFill>
                          <a:latin typeface="Consolas"/>
                        </a:rPr>
                        <a:t>HYBRID</a:t>
                      </a:r>
                    </a:p>
                  </a:txBody>
                  <a:tcPr anchor="ctr" marL="91440" marR="91440" marT="0" marB="0">
                    <a:solidFill>
                      <a:srgbClr val="FFFFFF"/>
                    </a:solidFill>
                  </a:tcPr>
                </a:tc>
                <a:tc>
                  <a:txBody>
                    <a:bodyPr/>
                    <a:lstStyle/>
                    <a:p>
                      <a:pPr algn="r"/>
                      <a:r>
                        <a:rPr sz="1300" b="0">
                          <a:solidFill>
                            <a:srgbClr val="14181F"/>
                          </a:solidFill>
                          <a:latin typeface="Consolas"/>
                        </a:rPr>
                        <a:t>7 128</a:t>
                      </a:r>
                    </a:p>
                  </a:txBody>
                  <a:tcPr anchor="ctr" marL="91440" marR="91440" marT="0" marB="0">
                    <a:solidFill>
                      <a:srgbClr val="FFFFFF"/>
                    </a:solidFill>
                  </a:tcPr>
                </a:tc>
                <a:tc>
                  <a:txBody>
                    <a:bodyPr/>
                    <a:lstStyle/>
                    <a:p>
                      <a:pPr algn="r"/>
                      <a:r>
                        <a:rPr sz="1300" b="0">
                          <a:solidFill>
                            <a:srgbClr val="14181F"/>
                          </a:solidFill>
                          <a:latin typeface="Consolas"/>
                        </a:rPr>
                        <a:t>7 113 – 7 348</a:t>
                      </a:r>
                    </a:p>
                  </a:txBody>
                  <a:tcPr anchor="ctr" marL="91440" marR="91440" marT="0" marB="0">
                    <a:solidFill>
                      <a:srgbClr val="FFFFFF"/>
                    </a:solidFill>
                  </a:tcPr>
                </a:tc>
                <a:tc>
                  <a:txBody>
                    <a:bodyPr/>
                    <a:lstStyle/>
                    <a:p>
                      <a:pPr algn="r"/>
                      <a:r>
                        <a:rPr sz="1300" b="0">
                          <a:solidFill>
                            <a:srgbClr val="14181F"/>
                          </a:solidFill>
                          <a:latin typeface="Consolas"/>
                        </a:rPr>
                        <a:t>+84.0 %</a:t>
                      </a:r>
                    </a:p>
                  </a:txBody>
                  <a:tcPr anchor="ctr" marL="91440" marR="91440" marT="0" marB="0">
                    <a:solidFill>
                      <a:srgbClr val="FFFFFF"/>
                    </a:solidFill>
                  </a:tcPr>
                </a:tc>
                <a:tc>
                  <a:txBody>
                    <a:bodyPr/>
                    <a:lstStyle/>
                    <a:p>
                      <a:pPr algn="r"/>
                      <a:r>
                        <a:rPr sz="1300" b="0">
                          <a:solidFill>
                            <a:srgbClr val="14181F"/>
                          </a:solidFill>
                          <a:latin typeface="Consolas"/>
                        </a:rPr>
                        <a:t>0.0079</a:t>
                      </a:r>
                    </a:p>
                  </a:txBody>
                  <a:tcPr anchor="ctr" marL="91440" marR="91440" marT="0" marB="0">
                    <a:solidFill>
                      <a:srgbClr val="FFFFFF"/>
                    </a:solidFill>
                  </a:tcPr>
                </a:tc>
              </a:tr>
              <a:tr h="310896">
                <a:tc>
                  <a:txBody>
                    <a:bodyPr/>
                    <a:lstStyle/>
                    <a:p>
                      <a:pPr algn="l"/>
                      <a:r>
                        <a:rPr sz="1300" b="0">
                          <a:solidFill>
                            <a:srgbClr val="14181F"/>
                          </a:solidFill>
                          <a:latin typeface="Consolas"/>
                        </a:rPr>
                        <a:t>CDC</a:t>
                      </a:r>
                    </a:p>
                  </a:txBody>
                  <a:tcPr anchor="ctr" marL="91440" marR="91440" marT="0" marB="0">
                    <a:solidFill>
                      <a:srgbClr val="FFFFFF"/>
                    </a:solidFill>
                  </a:tcPr>
                </a:tc>
                <a:tc>
                  <a:txBody>
                    <a:bodyPr/>
                    <a:lstStyle/>
                    <a:p>
                      <a:pPr algn="r"/>
                      <a:r>
                        <a:rPr sz="1300" b="0">
                          <a:solidFill>
                            <a:srgbClr val="14181F"/>
                          </a:solidFill>
                          <a:latin typeface="Consolas"/>
                        </a:rPr>
                        <a:t>3 901</a:t>
                      </a:r>
                    </a:p>
                  </a:txBody>
                  <a:tcPr anchor="ctr" marL="91440" marR="91440" marT="0" marB="0">
                    <a:solidFill>
                      <a:srgbClr val="FFFFFF"/>
                    </a:solidFill>
                  </a:tcPr>
                </a:tc>
                <a:tc>
                  <a:txBody>
                    <a:bodyPr/>
                    <a:lstStyle/>
                    <a:p>
                      <a:pPr algn="r"/>
                      <a:r>
                        <a:rPr sz="1300" b="0">
                          <a:solidFill>
                            <a:srgbClr val="14181F"/>
                          </a:solidFill>
                          <a:latin typeface="Consolas"/>
                        </a:rPr>
                        <a:t>3 890 – 3 930</a:t>
                      </a:r>
                    </a:p>
                  </a:txBody>
                  <a:tcPr anchor="ctr" marL="91440" marR="91440" marT="0" marB="0">
                    <a:solidFill>
                      <a:srgbClr val="FFFFFF"/>
                    </a:solidFill>
                  </a:tcPr>
                </a:tc>
                <a:tc>
                  <a:txBody>
                    <a:bodyPr/>
                    <a:lstStyle/>
                    <a:p>
                      <a:pPr algn="r"/>
                      <a:r>
                        <a:rPr sz="1300" b="0">
                          <a:solidFill>
                            <a:srgbClr val="14181F"/>
                          </a:solidFill>
                          <a:latin typeface="Consolas"/>
                        </a:rPr>
                        <a:t>+0.7 %</a:t>
                      </a:r>
                    </a:p>
                  </a:txBody>
                  <a:tcPr anchor="ctr" marL="91440" marR="91440" marT="0" marB="0">
                    <a:solidFill>
                      <a:srgbClr val="FFFFFF"/>
                    </a:solidFill>
                  </a:tcPr>
                </a:tc>
                <a:tc>
                  <a:txBody>
                    <a:bodyPr/>
                    <a:lstStyle/>
                    <a:p>
                      <a:pPr algn="r"/>
                      <a:r>
                        <a:rPr sz="1300" b="0">
                          <a:solidFill>
                            <a:srgbClr val="14181F"/>
                          </a:solidFill>
                          <a:latin typeface="Consolas"/>
                        </a:rPr>
                        <a:t>0.0952</a:t>
                      </a:r>
                    </a:p>
                  </a:txBody>
                  <a:tcPr anchor="ctr" marL="91440" marR="91440" marT="0" marB="0">
                    <a:solidFill>
                      <a:srgbClr val="FFFFFF"/>
                    </a:solidFill>
                  </a:tcPr>
                </a:tc>
              </a:tr>
              <a:tr h="310896">
                <a:tc>
                  <a:txBody>
                    <a:bodyPr/>
                    <a:lstStyle/>
                    <a:p>
                      <a:pPr algn="l"/>
                      <a:r>
                        <a:rPr sz="1300" b="0">
                          <a:solidFill>
                            <a:srgbClr val="14181F"/>
                          </a:solidFill>
                          <a:latin typeface="Consolas"/>
                        </a:rPr>
                        <a:t>WRAPPER_B2</a:t>
                      </a:r>
                    </a:p>
                  </a:txBody>
                  <a:tcPr anchor="ctr" marL="91440" marR="91440" marT="0" marB="0">
                    <a:solidFill>
                      <a:srgbClr val="FFFFFF"/>
                    </a:solidFill>
                  </a:tcPr>
                </a:tc>
                <a:tc>
                  <a:txBody>
                    <a:bodyPr/>
                    <a:lstStyle/>
                    <a:p>
                      <a:pPr algn="r"/>
                      <a:r>
                        <a:rPr sz="1300" b="0">
                          <a:solidFill>
                            <a:srgbClr val="14181F"/>
                          </a:solidFill>
                          <a:latin typeface="Consolas"/>
                        </a:rPr>
                        <a:t>3 924</a:t>
                      </a:r>
                    </a:p>
                  </a:txBody>
                  <a:tcPr anchor="ctr" marL="91440" marR="91440" marT="0" marB="0">
                    <a:solidFill>
                      <a:srgbClr val="FFFFFF"/>
                    </a:solidFill>
                  </a:tcPr>
                </a:tc>
                <a:tc>
                  <a:txBody>
                    <a:bodyPr/>
                    <a:lstStyle/>
                    <a:p>
                      <a:pPr algn="r"/>
                      <a:r>
                        <a:rPr sz="1300" b="0">
                          <a:solidFill>
                            <a:srgbClr val="14181F"/>
                          </a:solidFill>
                          <a:latin typeface="Consolas"/>
                        </a:rPr>
                        <a:t>3 852 – 3 943</a:t>
                      </a:r>
                    </a:p>
                  </a:txBody>
                  <a:tcPr anchor="ctr" marL="91440" marR="91440" marT="0" marB="0">
                    <a:solidFill>
                      <a:srgbClr val="FFFFFF"/>
                    </a:solidFill>
                  </a:tcPr>
                </a:tc>
                <a:tc>
                  <a:txBody>
                    <a:bodyPr/>
                    <a:lstStyle/>
                    <a:p>
                      <a:pPr algn="r"/>
                      <a:r>
                        <a:rPr sz="1300" b="0">
                          <a:solidFill>
                            <a:srgbClr val="14181F"/>
                          </a:solidFill>
                          <a:latin typeface="Consolas"/>
                        </a:rPr>
                        <a:t>+1.3 %</a:t>
                      </a:r>
                    </a:p>
                  </a:txBody>
                  <a:tcPr anchor="ctr" marL="91440" marR="91440" marT="0" marB="0">
                    <a:solidFill>
                      <a:srgbClr val="FFFFFF"/>
                    </a:solidFill>
                  </a:tcPr>
                </a:tc>
                <a:tc>
                  <a:txBody>
                    <a:bodyPr/>
                    <a:lstStyle/>
                    <a:p>
                      <a:pPr algn="r"/>
                      <a:r>
                        <a:rPr sz="1300" b="0">
                          <a:solidFill>
                            <a:srgbClr val="14181F"/>
                          </a:solidFill>
                          <a:latin typeface="Consolas"/>
                        </a:rPr>
                        <a:t>0.5476</a:t>
                      </a:r>
                    </a:p>
                  </a:txBody>
                  <a:tcPr anchor="ctr" marL="91440" marR="91440" marT="0" marB="0">
                    <a:solidFill>
                      <a:srgbClr val="FFFFFF"/>
                    </a:solidFill>
                  </a:tcPr>
                </a:tc>
              </a:tr>
              <a:tr h="310896">
                <a:tc>
                  <a:txBody>
                    <a:bodyPr/>
                    <a:lstStyle/>
                    <a:p>
                      <a:pPr algn="l"/>
                      <a:r>
                        <a:rPr sz="1300" b="0">
                          <a:solidFill>
                            <a:srgbClr val="14181F"/>
                          </a:solidFill>
                          <a:latin typeface="Consolas"/>
                        </a:rPr>
                        <a:t>WRAPPER_B1</a:t>
                      </a:r>
                    </a:p>
                  </a:txBody>
                  <a:tcPr anchor="ctr" marL="91440" marR="91440" marT="0" marB="0">
                    <a:solidFill>
                      <a:srgbClr val="FFFFFF"/>
                    </a:solidFill>
                  </a:tcPr>
                </a:tc>
                <a:tc>
                  <a:txBody>
                    <a:bodyPr/>
                    <a:lstStyle/>
                    <a:p>
                      <a:pPr algn="r"/>
                      <a:r>
                        <a:rPr sz="1300" b="0">
                          <a:solidFill>
                            <a:srgbClr val="14181F"/>
                          </a:solidFill>
                          <a:latin typeface="Consolas"/>
                        </a:rPr>
                        <a:t>3 806</a:t>
                      </a:r>
                    </a:p>
                  </a:txBody>
                  <a:tcPr anchor="ctr" marL="91440" marR="91440" marT="0" marB="0">
                    <a:solidFill>
                      <a:srgbClr val="FFFFFF"/>
                    </a:solidFill>
                  </a:tcPr>
                </a:tc>
                <a:tc>
                  <a:txBody>
                    <a:bodyPr/>
                    <a:lstStyle/>
                    <a:p>
                      <a:pPr algn="r"/>
                      <a:r>
                        <a:rPr sz="1300" b="0">
                          <a:solidFill>
                            <a:srgbClr val="14181F"/>
                          </a:solidFill>
                          <a:latin typeface="Consolas"/>
                        </a:rPr>
                        <a:t>3 806 – 3 916</a:t>
                      </a:r>
                    </a:p>
                  </a:txBody>
                  <a:tcPr anchor="ctr" marL="91440" marR="91440" marT="0" marB="0">
                    <a:solidFill>
                      <a:srgbClr val="FFFFFF"/>
                    </a:solidFill>
                  </a:tcPr>
                </a:tc>
                <a:tc>
                  <a:txBody>
                    <a:bodyPr/>
                    <a:lstStyle/>
                    <a:p>
                      <a:pPr algn="r"/>
                      <a:r>
                        <a:rPr sz="1300" b="0">
                          <a:solidFill>
                            <a:srgbClr val="14181F"/>
                          </a:solidFill>
                          <a:latin typeface="Consolas"/>
                        </a:rPr>
                        <a:t>−1.7 %</a:t>
                      </a:r>
                    </a:p>
                  </a:txBody>
                  <a:tcPr anchor="ctr" marL="91440" marR="91440" marT="0" marB="0">
                    <a:solidFill>
                      <a:srgbClr val="FFFFFF"/>
                    </a:solidFill>
                  </a:tcPr>
                </a:tc>
                <a:tc>
                  <a:txBody>
                    <a:bodyPr/>
                    <a:lstStyle/>
                    <a:p>
                      <a:pPr algn="r"/>
                      <a:r>
                        <a:rPr sz="1300" b="0">
                          <a:solidFill>
                            <a:srgbClr val="14181F"/>
                          </a:solidFill>
                          <a:latin typeface="Consolas"/>
                        </a:rPr>
                        <a:t>1.0000</a:t>
                      </a:r>
                    </a:p>
                  </a:txBody>
                  <a:tcPr anchor="ctr" marL="91440" marR="91440" marT="0" marB="0">
                    <a:solidFill>
                      <a:srgbClr val="FFFFFF"/>
                    </a:solidFill>
                  </a:tcPr>
                </a:tc>
              </a:tr>
            </a:tbl>
          </a:graphicData>
        </a:graphic>
      </p:graphicFrame>
      <p:sp>
        <p:nvSpPr>
          <p:cNvPr id="5" name="TextBox 4"/>
          <p:cNvSpPr txBox="1"/>
          <p:nvPr/>
        </p:nvSpPr>
        <p:spPr>
          <a:xfrm>
            <a:off x="777240" y="5074920"/>
            <a:ext cx="10607040" cy="1280160"/>
          </a:xfrm>
          <a:prstGeom prst="rect">
            <a:avLst/>
          </a:prstGeom>
          <a:noFill/>
        </p:spPr>
        <p:txBody>
          <a:bodyPr wrap="square" lIns="0" rIns="0" tIns="0" bIns="0">
            <a:spAutoFit/>
          </a:bodyPr>
          <a:lstStyle/>
          <a:p>
            <a:pPr algn="l">
              <a:lnSpc>
                <a:spcPct val="100000"/>
              </a:lnSpc>
              <a:spcBef>
                <a:spcPts val="0"/>
              </a:spcBef>
              <a:spcAft>
                <a:spcPts val="800"/>
              </a:spcAft>
            </a:pPr>
            <a:r>
              <a:rPr sz="1700" b="1">
                <a:solidFill>
                  <a:srgbClr val="14181F"/>
                </a:solidFill>
                <a:latin typeface="Calibri"/>
              </a:rPr>
              <a:t>p = 0.0079 is the floor for five repetitions per arm.</a:t>
            </a:r>
          </a:p>
          <a:p>
            <a:pPr algn="l">
              <a:lnSpc>
                <a:spcPct val="125000"/>
              </a:lnSpc>
              <a:spcBef>
                <a:spcPts val="0"/>
              </a:spcBef>
              <a:spcAft>
                <a:spcPts val="600"/>
              </a:spcAft>
            </a:pPr>
            <a:r>
              <a:rPr sz="1500" b="0">
                <a:solidFill>
                  <a:srgbClr val="5A636F"/>
                </a:solidFill>
                <a:latin typeface="Calibri"/>
              </a:rPr>
              <a:t>The three positives are perfect separations, not marginal ones. The exact permutation test is used because at n = 5 the normal approximation behind the usual Mann-Whitney p-value is not valid.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RESULT 3 — LATENCY</a:t>
            </a:r>
          </a:p>
          <a:p>
            <a:pPr algn="l">
              <a:lnSpc>
                <a:spcPct val="95000"/>
              </a:lnSpc>
              <a:spcBef>
                <a:spcPts val="0"/>
              </a:spcBef>
              <a:spcAft>
                <a:spcPts val="400"/>
              </a:spcAft>
            </a:pPr>
            <a:r>
              <a:rPr sz="3000" b="0">
                <a:solidFill>
                  <a:srgbClr val="14181F"/>
                </a:solidFill>
                <a:latin typeface="Georgia"/>
              </a:rPr>
              <a:t>A 560× spread between the fastest and slowest pipeline</a:t>
            </a:r>
          </a:p>
          <a:p>
            <a:pPr algn="l">
              <a:lnSpc>
                <a:spcPct val="100000"/>
              </a:lnSpc>
              <a:spcBef>
                <a:spcPts val="600"/>
              </a:spcBef>
              <a:spcAft>
                <a:spcPts val="600"/>
              </a:spcAft>
            </a:pPr>
            <a:r>
              <a:rPr sz="1400" b="0">
                <a:solidFill>
                  <a:srgbClr val="5A636F"/>
                </a:solidFill>
                <a:latin typeface="Calibri"/>
              </a:rPr>
              <a:t>Same workload, same events, same broker. Only the transport differs.</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graphicFrame>
        <p:nvGraphicFramePr>
          <p:cNvPr id="4" name="Table 3"/>
          <p:cNvGraphicFramePr>
            <a:graphicFrameLocks noGrp="1"/>
          </p:cNvGraphicFramePr>
          <p:nvPr/>
        </p:nvGraphicFramePr>
        <p:xfrm>
          <a:off x="777240" y="2240280"/>
          <a:ext cx="10058400" cy="1554480"/>
        </p:xfrm>
        <a:graphic>
          <a:graphicData uri="http://schemas.openxmlformats.org/drawingml/2006/table">
            <a:tbl>
              <a:tblPr firstRow="1" bandRow="1">
                <a:tableStyleId>{5C22544A-7EE6-4342-B048-85BDC9FD1C3A}</a:tableStyleId>
              </a:tblPr>
              <a:tblGrid>
                <a:gridCol w="1828800"/>
                <a:gridCol w="1371600"/>
                <a:gridCol w="1371600"/>
                <a:gridCol w="1463040"/>
                <a:gridCol w="4023360"/>
              </a:tblGrid>
              <a:tr h="310896">
                <a:tc>
                  <a:txBody>
                    <a:bodyPr/>
                    <a:lstStyle/>
                    <a:p>
                      <a:pPr algn="l"/>
                      <a:r>
                        <a:rPr sz="1000" b="1">
                          <a:solidFill>
                            <a:srgbClr val="5A636F"/>
                          </a:solidFill>
                          <a:latin typeface="Consolas"/>
                        </a:rPr>
                        <a:t>Mode</a:t>
                      </a:r>
                    </a:p>
                  </a:txBody>
                  <a:tcPr anchor="ctr" marL="91440" marR="91440" marT="0" marB="0">
                    <a:solidFill>
                      <a:srgbClr val="EFF2F5"/>
                    </a:solidFill>
                  </a:tcPr>
                </a:tc>
                <a:tc>
                  <a:txBody>
                    <a:bodyPr/>
                    <a:lstStyle/>
                    <a:p>
                      <a:pPr algn="r"/>
                      <a:r>
                        <a:rPr sz="1000" b="1">
                          <a:solidFill>
                            <a:srgbClr val="5A636F"/>
                          </a:solidFill>
                          <a:latin typeface="Consolas"/>
                        </a:rPr>
                        <a:t>p50</a:t>
                      </a:r>
                    </a:p>
                  </a:txBody>
                  <a:tcPr anchor="ctr" marL="91440" marR="91440" marT="0" marB="0">
                    <a:solidFill>
                      <a:srgbClr val="EFF2F5"/>
                    </a:solidFill>
                  </a:tcPr>
                </a:tc>
                <a:tc>
                  <a:txBody>
                    <a:bodyPr/>
                    <a:lstStyle/>
                    <a:p>
                      <a:pPr algn="r"/>
                      <a:r>
                        <a:rPr sz="1000" b="1">
                          <a:solidFill>
                            <a:srgbClr val="5A636F"/>
                          </a:solidFill>
                          <a:latin typeface="Consolas"/>
                        </a:rPr>
                        <a:t>p95</a:t>
                      </a:r>
                    </a:p>
                  </a:txBody>
                  <a:tcPr anchor="ctr" marL="91440" marR="91440" marT="0" marB="0">
                    <a:solidFill>
                      <a:srgbClr val="EFF2F5"/>
                    </a:solidFill>
                  </a:tcPr>
                </a:tc>
                <a:tc>
                  <a:txBody>
                    <a:bodyPr/>
                    <a:lstStyle/>
                    <a:p>
                      <a:pPr algn="r"/>
                      <a:r>
                        <a:rPr sz="1000" b="1">
                          <a:solidFill>
                            <a:srgbClr val="5A636F"/>
                          </a:solidFill>
                          <a:latin typeface="Consolas"/>
                        </a:rPr>
                        <a:t>p99</a:t>
                      </a:r>
                    </a:p>
                  </a:txBody>
                  <a:tcPr anchor="ctr" marL="91440" marR="91440" marT="0" marB="0">
                    <a:solidFill>
                      <a:srgbClr val="EFF2F5"/>
                    </a:solidFill>
                  </a:tcPr>
                </a:tc>
                <a:tc>
                  <a:txBody>
                    <a:bodyPr/>
                    <a:lstStyle/>
                    <a:p>
                      <a:pPr algn="l"/>
                      <a:r>
                        <a:rPr sz="1000" b="1">
                          <a:solidFill>
                            <a:srgbClr val="5A636F"/>
                          </a:solidFill>
                          <a:latin typeface="Consolas"/>
                        </a:rPr>
                        <a:t>Why</a:t>
                      </a:r>
                    </a:p>
                  </a:txBody>
                  <a:tcPr anchor="ctr" marL="91440" marR="91440" marT="0" marB="0">
                    <a:solidFill>
                      <a:srgbClr val="EFF2F5"/>
                    </a:solidFill>
                  </a:tcPr>
                </a:tc>
              </a:tr>
              <a:tr h="310896">
                <a:tc>
                  <a:txBody>
                    <a:bodyPr/>
                    <a:lstStyle/>
                    <a:p>
                      <a:pPr algn="l"/>
                      <a:r>
                        <a:rPr sz="1300" b="0">
                          <a:solidFill>
                            <a:srgbClr val="14181F"/>
                          </a:solidFill>
                          <a:latin typeface="Consolas"/>
                        </a:rPr>
                        <a:t>AQ</a:t>
                      </a:r>
                    </a:p>
                  </a:txBody>
                  <a:tcPr anchor="ctr" marL="91440" marR="91440" marT="0" marB="0">
                    <a:solidFill>
                      <a:srgbClr val="FFFFFF"/>
                    </a:solidFill>
                  </a:tcPr>
                </a:tc>
                <a:tc>
                  <a:txBody>
                    <a:bodyPr/>
                    <a:lstStyle/>
                    <a:p>
                      <a:pPr algn="r"/>
                      <a:r>
                        <a:rPr sz="1300" b="0">
                          <a:solidFill>
                            <a:srgbClr val="14181F"/>
                          </a:solidFill>
                          <a:latin typeface="Consolas"/>
                        </a:rPr>
                        <a:t>6 ms</a:t>
                      </a:r>
                    </a:p>
                  </a:txBody>
                  <a:tcPr anchor="ctr" marL="91440" marR="91440" marT="0" marB="0">
                    <a:solidFill>
                      <a:srgbClr val="FFFFFF"/>
                    </a:solidFill>
                  </a:tcPr>
                </a:tc>
                <a:tc>
                  <a:txBody>
                    <a:bodyPr/>
                    <a:lstStyle/>
                    <a:p>
                      <a:pPr algn="r"/>
                      <a:r>
                        <a:rPr sz="1300" b="0">
                          <a:solidFill>
                            <a:srgbClr val="14181F"/>
                          </a:solidFill>
                          <a:latin typeface="Consolas"/>
                        </a:rPr>
                        <a:t>13 ms</a:t>
                      </a:r>
                    </a:p>
                  </a:txBody>
                  <a:tcPr anchor="ctr" marL="91440" marR="91440" marT="0" marB="0">
                    <a:solidFill>
                      <a:srgbClr val="FFFFFF"/>
                    </a:solidFill>
                  </a:tcPr>
                </a:tc>
                <a:tc>
                  <a:txBody>
                    <a:bodyPr/>
                    <a:lstStyle/>
                    <a:p>
                      <a:pPr algn="r"/>
                      <a:r>
                        <a:rPr sz="1300" b="0">
                          <a:solidFill>
                            <a:srgbClr val="14181F"/>
                          </a:solidFill>
                          <a:latin typeface="Consolas"/>
                        </a:rPr>
                        <a:t>1 017 ms</a:t>
                      </a:r>
                    </a:p>
                  </a:txBody>
                  <a:tcPr anchor="ctr" marL="91440" marR="91440" marT="0" marB="0">
                    <a:solidFill>
                      <a:srgbClr val="FFFFFF"/>
                    </a:solidFill>
                  </a:tcPr>
                </a:tc>
                <a:tc>
                  <a:txBody>
                    <a:bodyPr/>
                    <a:lstStyle/>
                    <a:p>
                      <a:pPr algn="l"/>
                      <a:r>
                        <a:rPr sz="1300" b="0">
                          <a:solidFill>
                            <a:srgbClr val="14181F"/>
                          </a:solidFill>
                          <a:latin typeface="Calibri"/>
                        </a:rPr>
                        <a:t>Blocking dequeue, woken by the enqueue</a:t>
                      </a:r>
                    </a:p>
                  </a:txBody>
                  <a:tcPr anchor="ctr" marL="91440" marR="91440" marT="0" marB="0">
                    <a:solidFill>
                      <a:srgbClr val="FFFFFF"/>
                    </a:solidFill>
                  </a:tcPr>
                </a:tc>
              </a:tr>
              <a:tr h="310896">
                <a:tc>
                  <a:txBody>
                    <a:bodyPr/>
                    <a:lstStyle/>
                    <a:p>
                      <a:pPr algn="l"/>
                      <a:r>
                        <a:rPr sz="1300" b="0">
                          <a:solidFill>
                            <a:srgbClr val="14181F"/>
                          </a:solidFill>
                          <a:latin typeface="Consolas"/>
                        </a:rPr>
                        <a:t>WRAPPER_B3</a:t>
                      </a:r>
                    </a:p>
                  </a:txBody>
                  <a:tcPr anchor="ctr" marL="91440" marR="91440" marT="0" marB="0">
                    <a:solidFill>
                      <a:srgbClr val="FFFFFF"/>
                    </a:solidFill>
                  </a:tcPr>
                </a:tc>
                <a:tc>
                  <a:txBody>
                    <a:bodyPr/>
                    <a:lstStyle/>
                    <a:p>
                      <a:pPr algn="r"/>
                      <a:r>
                        <a:rPr sz="1300" b="0">
                          <a:solidFill>
                            <a:srgbClr val="14181F"/>
                          </a:solidFill>
                          <a:latin typeface="Consolas"/>
                        </a:rPr>
                        <a:t>128 ms</a:t>
                      </a:r>
                    </a:p>
                  </a:txBody>
                  <a:tcPr anchor="ctr" marL="91440" marR="91440" marT="0" marB="0">
                    <a:solidFill>
                      <a:srgbClr val="FFFFFF"/>
                    </a:solidFill>
                  </a:tcPr>
                </a:tc>
                <a:tc>
                  <a:txBody>
                    <a:bodyPr/>
                    <a:lstStyle/>
                    <a:p>
                      <a:pPr algn="r"/>
                      <a:r>
                        <a:rPr sz="1300" b="0">
                          <a:solidFill>
                            <a:srgbClr val="14181F"/>
                          </a:solidFill>
                          <a:latin typeface="Consolas"/>
                        </a:rPr>
                        <a:t>231 ms</a:t>
                      </a:r>
                    </a:p>
                  </a:txBody>
                  <a:tcPr anchor="ctr" marL="91440" marR="91440" marT="0" marB="0">
                    <a:solidFill>
                      <a:srgbClr val="FFFFFF"/>
                    </a:solidFill>
                  </a:tcPr>
                </a:tc>
                <a:tc>
                  <a:txBody>
                    <a:bodyPr/>
                    <a:lstStyle/>
                    <a:p>
                      <a:pPr algn="r"/>
                      <a:r>
                        <a:rPr sz="1300" b="0">
                          <a:solidFill>
                            <a:srgbClr val="14181F"/>
                          </a:solidFill>
                          <a:latin typeface="Consolas"/>
                        </a:rPr>
                        <a:t>1 279 ms</a:t>
                      </a:r>
                    </a:p>
                  </a:txBody>
                  <a:tcPr anchor="ctr" marL="91440" marR="91440" marT="0" marB="0">
                    <a:solidFill>
                      <a:srgbClr val="FFFFFF"/>
                    </a:solidFill>
                  </a:tcPr>
                </a:tc>
                <a:tc>
                  <a:txBody>
                    <a:bodyPr/>
                    <a:lstStyle/>
                    <a:p>
                      <a:pPr algn="l"/>
                      <a:r>
                        <a:rPr sz="1300" b="0">
                          <a:solidFill>
                            <a:srgbClr val="14181F"/>
                          </a:solidFill>
                          <a:latin typeface="Calibri"/>
                        </a:rPr>
                        <a:t>200 ms poll — half an interval on average</a:t>
                      </a:r>
                    </a:p>
                  </a:txBody>
                  <a:tcPr anchor="ctr" marL="91440" marR="91440" marT="0" marB="0">
                    <a:solidFill>
                      <a:srgbClr val="FFFFFF"/>
                    </a:solidFill>
                  </a:tcPr>
                </a:tc>
              </a:tr>
              <a:tr h="310896">
                <a:tc>
                  <a:txBody>
                    <a:bodyPr/>
                    <a:lstStyle/>
                    <a:p>
                      <a:pPr algn="l"/>
                      <a:r>
                        <a:rPr sz="1300" b="0">
                          <a:solidFill>
                            <a:srgbClr val="14181F"/>
                          </a:solidFill>
                          <a:latin typeface="Consolas"/>
                        </a:rPr>
                        <a:t>HYBRID</a:t>
                      </a:r>
                    </a:p>
                  </a:txBody>
                  <a:tcPr anchor="ctr" marL="91440" marR="91440" marT="0" marB="0">
                    <a:solidFill>
                      <a:srgbClr val="FFFFFF"/>
                    </a:solidFill>
                  </a:tcPr>
                </a:tc>
                <a:tc>
                  <a:txBody>
                    <a:bodyPr/>
                    <a:lstStyle/>
                    <a:p>
                      <a:pPr algn="r"/>
                      <a:r>
                        <a:rPr sz="1300" b="0">
                          <a:solidFill>
                            <a:srgbClr val="14181F"/>
                          </a:solidFill>
                          <a:latin typeface="Consolas"/>
                        </a:rPr>
                        <a:t>3 186 ms</a:t>
                      </a:r>
                    </a:p>
                  </a:txBody>
                  <a:tcPr anchor="ctr" marL="91440" marR="91440" marT="0" marB="0">
                    <a:solidFill>
                      <a:srgbClr val="FFFFFF"/>
                    </a:solidFill>
                  </a:tcPr>
                </a:tc>
                <a:tc>
                  <a:txBody>
                    <a:bodyPr/>
                    <a:lstStyle/>
                    <a:p>
                      <a:pPr algn="r"/>
                      <a:r>
                        <a:rPr sz="1300" b="0">
                          <a:solidFill>
                            <a:srgbClr val="14181F"/>
                          </a:solidFill>
                          <a:latin typeface="Consolas"/>
                        </a:rPr>
                        <a:t>5 804 ms</a:t>
                      </a:r>
                    </a:p>
                  </a:txBody>
                  <a:tcPr anchor="ctr" marL="91440" marR="91440" marT="0" marB="0">
                    <a:solidFill>
                      <a:srgbClr val="FFFFFF"/>
                    </a:solidFill>
                  </a:tcPr>
                </a:tc>
                <a:tc>
                  <a:txBody>
                    <a:bodyPr/>
                    <a:lstStyle/>
                    <a:p>
                      <a:pPr algn="r"/>
                      <a:r>
                        <a:rPr sz="1300" b="0">
                          <a:solidFill>
                            <a:srgbClr val="14181F"/>
                          </a:solidFill>
                          <a:latin typeface="Consolas"/>
                        </a:rPr>
                        <a:t>7 539 ms</a:t>
                      </a:r>
                    </a:p>
                  </a:txBody>
                  <a:tcPr anchor="ctr" marL="91440" marR="91440" marT="0" marB="0">
                    <a:solidFill>
                      <a:srgbClr val="FFFFFF"/>
                    </a:solidFill>
                  </a:tcPr>
                </a:tc>
                <a:tc>
                  <a:txBody>
                    <a:bodyPr/>
                    <a:lstStyle/>
                    <a:p>
                      <a:pPr algn="l"/>
                      <a:r>
                        <a:rPr sz="1300" b="0">
                          <a:solidFill>
                            <a:srgbClr val="14181F"/>
                          </a:solidFill>
                          <a:latin typeface="Calibri"/>
                        </a:rPr>
                        <a:t>Debezium's LogMiner cycle</a:t>
                      </a:r>
                    </a:p>
                  </a:txBody>
                  <a:tcPr anchor="ctr" marL="91440" marR="91440" marT="0" marB="0">
                    <a:solidFill>
                      <a:srgbClr val="FFFFFF"/>
                    </a:solidFill>
                  </a:tcPr>
                </a:tc>
              </a:tr>
              <a:tr h="310896">
                <a:tc>
                  <a:txBody>
                    <a:bodyPr/>
                    <a:lstStyle/>
                    <a:p>
                      <a:pPr algn="l"/>
                      <a:r>
                        <a:rPr sz="1300" b="0">
                          <a:solidFill>
                            <a:srgbClr val="14181F"/>
                          </a:solidFill>
                          <a:latin typeface="Consolas"/>
                        </a:rPr>
                        <a:t>CDC</a:t>
                      </a:r>
                    </a:p>
                  </a:txBody>
                  <a:tcPr anchor="ctr" marL="91440" marR="91440" marT="0" marB="0">
                    <a:solidFill>
                      <a:srgbClr val="FFFFFF"/>
                    </a:solidFill>
                  </a:tcPr>
                </a:tc>
                <a:tc>
                  <a:txBody>
                    <a:bodyPr/>
                    <a:lstStyle/>
                    <a:p>
                      <a:pPr algn="r"/>
                      <a:r>
                        <a:rPr sz="1300" b="0">
                          <a:solidFill>
                            <a:srgbClr val="14181F"/>
                          </a:solidFill>
                          <a:latin typeface="Consolas"/>
                        </a:rPr>
                        <a:t>3 362 ms</a:t>
                      </a:r>
                    </a:p>
                  </a:txBody>
                  <a:tcPr anchor="ctr" marL="91440" marR="91440" marT="0" marB="0">
                    <a:solidFill>
                      <a:srgbClr val="FFFFFF"/>
                    </a:solidFill>
                  </a:tcPr>
                </a:tc>
                <a:tc>
                  <a:txBody>
                    <a:bodyPr/>
                    <a:lstStyle/>
                    <a:p>
                      <a:pPr algn="r"/>
                      <a:r>
                        <a:rPr sz="1300" b="0">
                          <a:solidFill>
                            <a:srgbClr val="14181F"/>
                          </a:solidFill>
                          <a:latin typeface="Consolas"/>
                        </a:rPr>
                        <a:t>6 751 ms</a:t>
                      </a:r>
                    </a:p>
                  </a:txBody>
                  <a:tcPr anchor="ctr" marL="91440" marR="91440" marT="0" marB="0">
                    <a:solidFill>
                      <a:srgbClr val="FFFFFF"/>
                    </a:solidFill>
                  </a:tcPr>
                </a:tc>
                <a:tc>
                  <a:txBody>
                    <a:bodyPr/>
                    <a:lstStyle/>
                    <a:p>
                      <a:pPr algn="r"/>
                      <a:r>
                        <a:rPr sz="1300" b="0">
                          <a:solidFill>
                            <a:srgbClr val="14181F"/>
                          </a:solidFill>
                          <a:latin typeface="Consolas"/>
                        </a:rPr>
                        <a:t>8 177 ms</a:t>
                      </a:r>
                    </a:p>
                  </a:txBody>
                  <a:tcPr anchor="ctr" marL="91440" marR="91440" marT="0" marB="0">
                    <a:solidFill>
                      <a:srgbClr val="FFFFFF"/>
                    </a:solidFill>
                  </a:tcPr>
                </a:tc>
                <a:tc>
                  <a:txBody>
                    <a:bodyPr/>
                    <a:lstStyle/>
                    <a:p>
                      <a:pPr algn="l"/>
                      <a:r>
                        <a:rPr sz="1300" b="0">
                          <a:solidFill>
                            <a:srgbClr val="14181F"/>
                          </a:solidFill>
                          <a:latin typeface="Calibri"/>
                        </a:rPr>
                        <a:t>Debezium's LogMiner cycle</a:t>
                      </a:r>
                    </a:p>
                  </a:txBody>
                  <a:tcPr anchor="ctr" marL="91440" marR="91440" marT="0" marB="0">
                    <a:solidFill>
                      <a:srgbClr val="FFFFFF"/>
                    </a:solidFill>
                  </a:tcPr>
                </a:tc>
              </a:tr>
            </a:tbl>
          </a:graphicData>
        </a:graphic>
      </p:graphicFrame>
      <p:sp>
        <p:nvSpPr>
          <p:cNvPr id="5" name="TextBox 4"/>
          <p:cNvSpPr txBox="1"/>
          <p:nvPr/>
        </p:nvSpPr>
        <p:spPr>
          <a:xfrm>
            <a:off x="777240" y="4206240"/>
            <a:ext cx="10607040" cy="2011680"/>
          </a:xfrm>
          <a:prstGeom prst="rect">
            <a:avLst/>
          </a:prstGeom>
          <a:noFill/>
        </p:spPr>
        <p:txBody>
          <a:bodyPr wrap="square" lIns="0" rIns="0" tIns="0" bIns="0">
            <a:spAutoFit/>
          </a:bodyPr>
          <a:lstStyle/>
          <a:p>
            <a:pPr algn="l">
              <a:lnSpc>
                <a:spcPct val="100000"/>
              </a:lnSpc>
              <a:spcBef>
                <a:spcPts val="0"/>
              </a:spcBef>
              <a:spcAft>
                <a:spcPts val="800"/>
              </a:spcAft>
            </a:pPr>
            <a:r>
              <a:rPr sz="1700" b="1">
                <a:solidFill>
                  <a:srgbClr val="14181F"/>
                </a:solidFill>
                <a:latin typeface="Calibri"/>
              </a:rPr>
              <a:t>The two Debezium pipelines are one latency class, not two options.</a:t>
            </a:r>
          </a:p>
          <a:p>
            <a:pPr algn="l">
              <a:lnSpc>
                <a:spcPct val="125000"/>
              </a:lnSpc>
              <a:spcBef>
                <a:spcPts val="0"/>
              </a:spcBef>
              <a:spcAft>
                <a:spcPts val="600"/>
              </a:spcAft>
            </a:pPr>
            <a:r>
              <a:rPr sz="1500" b="0">
                <a:solidFill>
                  <a:srgbClr val="5A636F"/>
                </a:solidFill>
                <a:latin typeface="Calibri"/>
              </a:rPr>
              <a:t>Replacing the outbox poll with Debezium removes the polling query from the database — but Debezium's own mining cycle is a slower poll. The hybrid's advantage is coverage of writers that never call the application, and removal of polling load from the OLTP instance. It is not latency, and the thesis says so.</a:t>
            </a:r>
          </a:p>
          <a:p>
            <a:pPr algn="l">
              <a:lnSpc>
                <a:spcPct val="120000"/>
              </a:lnSpc>
              <a:spcBef>
                <a:spcPts val="1000"/>
              </a:spcBef>
              <a:spcAft>
                <a:spcPts val="600"/>
              </a:spcAft>
            </a:pPr>
            <a:r>
              <a:rPr sz="1300" b="0">
                <a:solidFill>
                  <a:srgbClr val="8A929D"/>
                </a:solidFill>
                <a:latin typeface="Calibri"/>
              </a:rPr>
              <a:t>B1 and B2 are excluded here: they publish at or before commit, so their latency is not the same quantity. B1's is negative 38 % of the time — the dual write, measured.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RESULT 4 — COST TO THE PAYMENT PATH</a:t>
            </a:r>
          </a:p>
          <a:p>
            <a:pPr algn="l">
              <a:lnSpc>
                <a:spcPct val="95000"/>
              </a:lnSpc>
              <a:spcBef>
                <a:spcPts val="0"/>
              </a:spcBef>
              <a:spcAft>
                <a:spcPts val="400"/>
              </a:spcAft>
            </a:pPr>
            <a:r>
              <a:rPr sz="3000" b="0">
                <a:solidFill>
                  <a:srgbClr val="14181F"/>
                </a:solidFill>
                <a:latin typeface="Georgia"/>
              </a:rPr>
              <a:t>CDC is the only mechanism the OLTP path cannot feel</a:t>
            </a:r>
          </a:p>
          <a:p>
            <a:pPr algn="l">
              <a:lnSpc>
                <a:spcPct val="100000"/>
              </a:lnSpc>
              <a:spcBef>
                <a:spcPts val="600"/>
              </a:spcBef>
              <a:spcAft>
                <a:spcPts val="600"/>
              </a:spcAft>
            </a:pPr>
            <a:r>
              <a:rPr sz="1400" b="0">
                <a:solidFill>
                  <a:srgbClr val="5A636F"/>
                </a:solidFill>
                <a:latin typeface="Calibri"/>
              </a:rPr>
              <a:t>HTTP p95 at the service boundary, against the instrumented control.</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graphicFrame>
        <p:nvGraphicFramePr>
          <p:cNvPr id="4" name="Table 3"/>
          <p:cNvGraphicFramePr>
            <a:graphicFrameLocks noGrp="1"/>
          </p:cNvGraphicFramePr>
          <p:nvPr/>
        </p:nvGraphicFramePr>
        <p:xfrm>
          <a:off x="777240" y="2240280"/>
          <a:ext cx="9601200" cy="2487168"/>
        </p:xfrm>
        <a:graphic>
          <a:graphicData uri="http://schemas.openxmlformats.org/drawingml/2006/table">
            <a:tbl>
              <a:tblPr firstRow="1" bandRow="1">
                <a:tableStyleId>{5C22544A-7EE6-4342-B048-85BDC9FD1C3A}</a:tableStyleId>
              </a:tblPr>
              <a:tblGrid>
                <a:gridCol w="2194560"/>
                <a:gridCol w="1737360"/>
                <a:gridCol w="2377440"/>
                <a:gridCol w="1828800"/>
                <a:gridCol w="1463040"/>
              </a:tblGrid>
              <a:tr h="310896">
                <a:tc>
                  <a:txBody>
                    <a:bodyPr/>
                    <a:lstStyle/>
                    <a:p>
                      <a:pPr algn="l"/>
                      <a:r>
                        <a:rPr sz="1000" b="1">
                          <a:solidFill>
                            <a:srgbClr val="5A636F"/>
                          </a:solidFill>
                          <a:latin typeface="Consolas"/>
                        </a:rPr>
                        <a:t>Mode</a:t>
                      </a:r>
                    </a:p>
                  </a:txBody>
                  <a:tcPr anchor="ctr" marL="91440" marR="91440" marT="0" marB="0">
                    <a:solidFill>
                      <a:srgbClr val="EFF2F5"/>
                    </a:solidFill>
                  </a:tcPr>
                </a:tc>
                <a:tc>
                  <a:txBody>
                    <a:bodyPr/>
                    <a:lstStyle/>
                    <a:p>
                      <a:pPr algn="r"/>
                      <a:r>
                        <a:rPr sz="1000" b="1">
                          <a:solidFill>
                            <a:srgbClr val="5A636F"/>
                          </a:solidFill>
                          <a:latin typeface="Consolas"/>
                        </a:rPr>
                        <a:t>Median</a:t>
                      </a:r>
                    </a:p>
                  </a:txBody>
                  <a:tcPr anchor="ctr" marL="91440" marR="91440" marT="0" marB="0">
                    <a:solidFill>
                      <a:srgbClr val="EFF2F5"/>
                    </a:solidFill>
                  </a:tcPr>
                </a:tc>
                <a:tc>
                  <a:txBody>
                    <a:bodyPr/>
                    <a:lstStyle/>
                    <a:p>
                      <a:pPr algn="r"/>
                      <a:r>
                        <a:rPr sz="1000" b="1">
                          <a:solidFill>
                            <a:srgbClr val="5A636F"/>
                          </a:solidFill>
                          <a:latin typeface="Consolas"/>
                        </a:rPr>
                        <a:t>IQR</a:t>
                      </a:r>
                    </a:p>
                  </a:txBody>
                  <a:tcPr anchor="ctr" marL="91440" marR="91440" marT="0" marB="0">
                    <a:solidFill>
                      <a:srgbClr val="EFF2F5"/>
                    </a:solidFill>
                  </a:tcPr>
                </a:tc>
                <a:tc>
                  <a:txBody>
                    <a:bodyPr/>
                    <a:lstStyle/>
                    <a:p>
                      <a:pPr algn="r"/>
                      <a:r>
                        <a:rPr sz="1000" b="1">
                          <a:solidFill>
                            <a:srgbClr val="5A636F"/>
                          </a:solidFill>
                          <a:latin typeface="Consolas"/>
                        </a:rPr>
                        <a:t>vs control</a:t>
                      </a:r>
                    </a:p>
                  </a:txBody>
                  <a:tcPr anchor="ctr" marL="91440" marR="91440" marT="0" marB="0">
                    <a:solidFill>
                      <a:srgbClr val="EFF2F5"/>
                    </a:solidFill>
                  </a:tcPr>
                </a:tc>
                <a:tc>
                  <a:txBody>
                    <a:bodyPr/>
                    <a:lstStyle/>
                    <a:p>
                      <a:pPr algn="r"/>
                      <a:r>
                        <a:rPr sz="1000" b="1">
                          <a:solidFill>
                            <a:srgbClr val="5A636F"/>
                          </a:solidFill>
                          <a:latin typeface="Consolas"/>
                        </a:rPr>
                        <a:t>Exact p</a:t>
                      </a:r>
                    </a:p>
                  </a:txBody>
                  <a:tcPr anchor="ctr" marL="91440" marR="91440" marT="0" marB="0">
                    <a:solidFill>
                      <a:srgbClr val="EFF2F5"/>
                    </a:solidFill>
                  </a:tcPr>
                </a:tc>
              </a:tr>
              <a:tr h="310896">
                <a:tc>
                  <a:txBody>
                    <a:bodyPr/>
                    <a:lstStyle/>
                    <a:p>
                      <a:pPr algn="l"/>
                      <a:r>
                        <a:rPr sz="1300" b="0">
                          <a:solidFill>
                            <a:srgbClr val="14181F"/>
                          </a:solidFill>
                          <a:latin typeface="Consolas"/>
                        </a:rPr>
                        <a:t>BASELINE_GT</a:t>
                      </a:r>
                    </a:p>
                  </a:txBody>
                  <a:tcPr anchor="ctr" marL="91440" marR="91440" marT="0" marB="0">
                    <a:solidFill>
                      <a:srgbClr val="E2EAF1"/>
                    </a:solidFill>
                  </a:tcPr>
                </a:tc>
                <a:tc>
                  <a:txBody>
                    <a:bodyPr/>
                    <a:lstStyle/>
                    <a:p>
                      <a:pPr algn="r"/>
                      <a:r>
                        <a:rPr sz="1300" b="0">
                          <a:solidFill>
                            <a:srgbClr val="14181F"/>
                          </a:solidFill>
                          <a:latin typeface="Consolas"/>
                        </a:rPr>
                        <a:t>5.40 ms</a:t>
                      </a:r>
                    </a:p>
                  </a:txBody>
                  <a:tcPr anchor="ctr" marL="91440" marR="91440" marT="0" marB="0">
                    <a:solidFill>
                      <a:srgbClr val="E2EAF1"/>
                    </a:solidFill>
                  </a:tcPr>
                </a:tc>
                <a:tc>
                  <a:txBody>
                    <a:bodyPr/>
                    <a:lstStyle/>
                    <a:p>
                      <a:pPr algn="r"/>
                      <a:r>
                        <a:rPr sz="1300" b="0">
                          <a:solidFill>
                            <a:srgbClr val="14181F"/>
                          </a:solidFill>
                          <a:latin typeface="Consolas"/>
                        </a:rPr>
                        <a:t>4.63 – 5.42</a:t>
                      </a:r>
                    </a:p>
                  </a:txBody>
                  <a:tcPr anchor="ctr" marL="91440" marR="91440" marT="0" marB="0">
                    <a:solidFill>
                      <a:srgbClr val="E2EAF1"/>
                    </a:solidFill>
                  </a:tcPr>
                </a:tc>
                <a:tc>
                  <a:txBody>
                    <a:bodyPr/>
                    <a:lstStyle/>
                    <a:p>
                      <a:pPr algn="r"/>
                      <a:r>
                        <a:rPr sz="1300" b="0">
                          <a:solidFill>
                            <a:srgbClr val="14181F"/>
                          </a:solidFill>
                          <a:latin typeface="Consolas"/>
                        </a:rPr>
                        <a:t>control</a:t>
                      </a:r>
                    </a:p>
                  </a:txBody>
                  <a:tcPr anchor="ctr" marL="91440" marR="91440" marT="0" marB="0">
                    <a:solidFill>
                      <a:srgbClr val="E2EAF1"/>
                    </a:solidFill>
                  </a:tcPr>
                </a:tc>
                <a:tc>
                  <a:txBody>
                    <a:bodyPr/>
                    <a:lstStyle/>
                    <a:p>
                      <a:pPr algn="r"/>
                      <a:r>
                        <a:rPr sz="1300" b="0">
                          <a:solidFill>
                            <a:srgbClr val="14181F"/>
                          </a:solidFill>
                          <a:latin typeface="Consolas"/>
                        </a:rPr>
                        <a:t>—</a:t>
                      </a:r>
                    </a:p>
                  </a:txBody>
                  <a:tcPr anchor="ctr" marL="91440" marR="91440" marT="0" marB="0">
                    <a:solidFill>
                      <a:srgbClr val="E2EAF1"/>
                    </a:solidFill>
                  </a:tcPr>
                </a:tc>
              </a:tr>
              <a:tr h="310896">
                <a:tc>
                  <a:txBody>
                    <a:bodyPr/>
                    <a:lstStyle/>
                    <a:p>
                      <a:pPr algn="l"/>
                      <a:r>
                        <a:rPr sz="1300" b="0">
                          <a:solidFill>
                            <a:srgbClr val="14181F"/>
                          </a:solidFill>
                          <a:latin typeface="Consolas"/>
                        </a:rPr>
                        <a:t>CDC</a:t>
                      </a:r>
                    </a:p>
                  </a:txBody>
                  <a:tcPr anchor="ctr" marL="91440" marR="91440" marT="0" marB="0">
                    <a:solidFill>
                      <a:srgbClr val="FFFFFF"/>
                    </a:solidFill>
                  </a:tcPr>
                </a:tc>
                <a:tc>
                  <a:txBody>
                    <a:bodyPr/>
                    <a:lstStyle/>
                    <a:p>
                      <a:pPr algn="r"/>
                      <a:r>
                        <a:rPr sz="1300" b="0">
                          <a:solidFill>
                            <a:srgbClr val="14181F"/>
                          </a:solidFill>
                          <a:latin typeface="Consolas"/>
                        </a:rPr>
                        <a:t>5.22 ms</a:t>
                      </a:r>
                    </a:p>
                  </a:txBody>
                  <a:tcPr anchor="ctr" marL="91440" marR="91440" marT="0" marB="0">
                    <a:solidFill>
                      <a:srgbClr val="FFFFFF"/>
                    </a:solidFill>
                  </a:tcPr>
                </a:tc>
                <a:tc>
                  <a:txBody>
                    <a:bodyPr/>
                    <a:lstStyle/>
                    <a:p>
                      <a:pPr algn="r"/>
                      <a:r>
                        <a:rPr sz="1300" b="0">
                          <a:solidFill>
                            <a:srgbClr val="14181F"/>
                          </a:solidFill>
                          <a:latin typeface="Consolas"/>
                        </a:rPr>
                        <a:t>5.09 – 5.24</a:t>
                      </a:r>
                    </a:p>
                  </a:txBody>
                  <a:tcPr anchor="ctr" marL="91440" marR="91440" marT="0" marB="0">
                    <a:solidFill>
                      <a:srgbClr val="FFFFFF"/>
                    </a:solidFill>
                  </a:tcPr>
                </a:tc>
                <a:tc>
                  <a:txBody>
                    <a:bodyPr/>
                    <a:lstStyle/>
                    <a:p>
                      <a:pPr algn="r"/>
                      <a:r>
                        <a:rPr sz="1300" b="0">
                          <a:solidFill>
                            <a:srgbClr val="14181F"/>
                          </a:solidFill>
                          <a:latin typeface="Consolas"/>
                        </a:rPr>
                        <a:t>−3.3 %</a:t>
                      </a:r>
                    </a:p>
                  </a:txBody>
                  <a:tcPr anchor="ctr" marL="91440" marR="91440" marT="0" marB="0">
                    <a:solidFill>
                      <a:srgbClr val="FFFFFF"/>
                    </a:solidFill>
                  </a:tcPr>
                </a:tc>
                <a:tc>
                  <a:txBody>
                    <a:bodyPr/>
                    <a:lstStyle/>
                    <a:p>
                      <a:pPr algn="r"/>
                      <a:r>
                        <a:rPr sz="1300" b="0">
                          <a:solidFill>
                            <a:srgbClr val="14181F"/>
                          </a:solidFill>
                          <a:latin typeface="Consolas"/>
                        </a:rPr>
                        <a:t>0.6905</a:t>
                      </a:r>
                    </a:p>
                  </a:txBody>
                  <a:tcPr anchor="ctr" marL="91440" marR="91440" marT="0" marB="0">
                    <a:solidFill>
                      <a:srgbClr val="FFFFFF"/>
                    </a:solidFill>
                  </a:tcPr>
                </a:tc>
              </a:tr>
              <a:tr h="310896">
                <a:tc>
                  <a:txBody>
                    <a:bodyPr/>
                    <a:lstStyle/>
                    <a:p>
                      <a:pPr algn="l"/>
                      <a:r>
                        <a:rPr sz="1300" b="0">
                          <a:solidFill>
                            <a:srgbClr val="14181F"/>
                          </a:solidFill>
                          <a:latin typeface="Consolas"/>
                        </a:rPr>
                        <a:t>WRAPPER_B1</a:t>
                      </a:r>
                    </a:p>
                  </a:txBody>
                  <a:tcPr anchor="ctr" marL="91440" marR="91440" marT="0" marB="0">
                    <a:solidFill>
                      <a:srgbClr val="FFFFFF"/>
                    </a:solidFill>
                  </a:tcPr>
                </a:tc>
                <a:tc>
                  <a:txBody>
                    <a:bodyPr/>
                    <a:lstStyle/>
                    <a:p>
                      <a:pPr algn="r"/>
                      <a:r>
                        <a:rPr sz="1300" b="0">
                          <a:solidFill>
                            <a:srgbClr val="14181F"/>
                          </a:solidFill>
                          <a:latin typeface="Consolas"/>
                        </a:rPr>
                        <a:t>6.34 ms</a:t>
                      </a:r>
                    </a:p>
                  </a:txBody>
                  <a:tcPr anchor="ctr" marL="91440" marR="91440" marT="0" marB="0">
                    <a:solidFill>
                      <a:srgbClr val="FFFFFF"/>
                    </a:solidFill>
                  </a:tcPr>
                </a:tc>
                <a:tc>
                  <a:txBody>
                    <a:bodyPr/>
                    <a:lstStyle/>
                    <a:p>
                      <a:pPr algn="r"/>
                      <a:r>
                        <a:rPr sz="1300" b="0">
                          <a:solidFill>
                            <a:srgbClr val="14181F"/>
                          </a:solidFill>
                          <a:latin typeface="Consolas"/>
                        </a:rPr>
                        <a:t>6.07 – 6.54</a:t>
                      </a:r>
                    </a:p>
                  </a:txBody>
                  <a:tcPr anchor="ctr" marL="91440" marR="91440" marT="0" marB="0">
                    <a:solidFill>
                      <a:srgbClr val="FFFFFF"/>
                    </a:solidFill>
                  </a:tcPr>
                </a:tc>
                <a:tc>
                  <a:txBody>
                    <a:bodyPr/>
                    <a:lstStyle/>
                    <a:p>
                      <a:pPr algn="r"/>
                      <a:r>
                        <a:rPr sz="1300" b="0">
                          <a:solidFill>
                            <a:srgbClr val="14181F"/>
                          </a:solidFill>
                          <a:latin typeface="Consolas"/>
                        </a:rPr>
                        <a:t>+17.3 %</a:t>
                      </a:r>
                    </a:p>
                  </a:txBody>
                  <a:tcPr anchor="ctr" marL="91440" marR="91440" marT="0" marB="0">
                    <a:solidFill>
                      <a:srgbClr val="FFFFFF"/>
                    </a:solidFill>
                  </a:tcPr>
                </a:tc>
                <a:tc>
                  <a:txBody>
                    <a:bodyPr/>
                    <a:lstStyle/>
                    <a:p>
                      <a:pPr algn="r"/>
                      <a:r>
                        <a:rPr sz="1300" b="0">
                          <a:solidFill>
                            <a:srgbClr val="14181F"/>
                          </a:solidFill>
                          <a:latin typeface="Consolas"/>
                        </a:rPr>
                        <a:t>0.0556</a:t>
                      </a:r>
                    </a:p>
                  </a:txBody>
                  <a:tcPr anchor="ctr" marL="91440" marR="91440" marT="0" marB="0">
                    <a:solidFill>
                      <a:srgbClr val="FFFFFF"/>
                    </a:solidFill>
                  </a:tcPr>
                </a:tc>
              </a:tr>
              <a:tr h="310896">
                <a:tc>
                  <a:txBody>
                    <a:bodyPr/>
                    <a:lstStyle/>
                    <a:p>
                      <a:pPr algn="l"/>
                      <a:r>
                        <a:rPr sz="1300" b="0">
                          <a:solidFill>
                            <a:srgbClr val="14181F"/>
                          </a:solidFill>
                          <a:latin typeface="Consolas"/>
                        </a:rPr>
                        <a:t>WRAPPER_B2</a:t>
                      </a:r>
                    </a:p>
                  </a:txBody>
                  <a:tcPr anchor="ctr" marL="91440" marR="91440" marT="0" marB="0">
                    <a:solidFill>
                      <a:srgbClr val="FFFFFF"/>
                    </a:solidFill>
                  </a:tcPr>
                </a:tc>
                <a:tc>
                  <a:txBody>
                    <a:bodyPr/>
                    <a:lstStyle/>
                    <a:p>
                      <a:pPr algn="r"/>
                      <a:r>
                        <a:rPr sz="1300" b="0">
                          <a:solidFill>
                            <a:srgbClr val="14181F"/>
                          </a:solidFill>
                          <a:latin typeface="Consolas"/>
                        </a:rPr>
                        <a:t>6.65 ms</a:t>
                      </a:r>
                    </a:p>
                  </a:txBody>
                  <a:tcPr anchor="ctr" marL="91440" marR="91440" marT="0" marB="0">
                    <a:solidFill>
                      <a:srgbClr val="FFFFFF"/>
                    </a:solidFill>
                  </a:tcPr>
                </a:tc>
                <a:tc>
                  <a:txBody>
                    <a:bodyPr/>
                    <a:lstStyle/>
                    <a:p>
                      <a:pPr algn="r"/>
                      <a:r>
                        <a:rPr sz="1300" b="0">
                          <a:solidFill>
                            <a:srgbClr val="14181F"/>
                          </a:solidFill>
                          <a:latin typeface="Consolas"/>
                        </a:rPr>
                        <a:t>6.24 – 7.22</a:t>
                      </a:r>
                    </a:p>
                  </a:txBody>
                  <a:tcPr anchor="ctr" marL="91440" marR="91440" marT="0" marB="0">
                    <a:solidFill>
                      <a:srgbClr val="FFFFFF"/>
                    </a:solidFill>
                  </a:tcPr>
                </a:tc>
                <a:tc>
                  <a:txBody>
                    <a:bodyPr/>
                    <a:lstStyle/>
                    <a:p>
                      <a:pPr algn="r"/>
                      <a:r>
                        <a:rPr sz="1300" b="0">
                          <a:solidFill>
                            <a:srgbClr val="14181F"/>
                          </a:solidFill>
                          <a:latin typeface="Consolas"/>
                        </a:rPr>
                        <a:t>+23.1 %</a:t>
                      </a:r>
                    </a:p>
                  </a:txBody>
                  <a:tcPr anchor="ctr" marL="91440" marR="91440" marT="0" marB="0">
                    <a:solidFill>
                      <a:srgbClr val="FFFFFF"/>
                    </a:solidFill>
                  </a:tcPr>
                </a:tc>
                <a:tc>
                  <a:txBody>
                    <a:bodyPr/>
                    <a:lstStyle/>
                    <a:p>
                      <a:pPr algn="r"/>
                      <a:r>
                        <a:rPr sz="1300" b="0">
                          <a:solidFill>
                            <a:srgbClr val="14181F"/>
                          </a:solidFill>
                          <a:latin typeface="Consolas"/>
                        </a:rPr>
                        <a:t>0.0556</a:t>
                      </a:r>
                    </a:p>
                  </a:txBody>
                  <a:tcPr anchor="ctr" marL="91440" marR="91440" marT="0" marB="0">
                    <a:solidFill>
                      <a:srgbClr val="FFFFFF"/>
                    </a:solidFill>
                  </a:tcPr>
                </a:tc>
              </a:tr>
              <a:tr h="310896">
                <a:tc>
                  <a:txBody>
                    <a:bodyPr/>
                    <a:lstStyle/>
                    <a:p>
                      <a:pPr algn="l"/>
                      <a:r>
                        <a:rPr sz="1300" b="0">
                          <a:solidFill>
                            <a:srgbClr val="14181F"/>
                          </a:solidFill>
                          <a:latin typeface="Consolas"/>
                        </a:rPr>
                        <a:t>AQ</a:t>
                      </a:r>
                    </a:p>
                  </a:txBody>
                  <a:tcPr anchor="ctr" marL="91440" marR="91440" marT="0" marB="0">
                    <a:solidFill>
                      <a:srgbClr val="FFFFFF"/>
                    </a:solidFill>
                  </a:tcPr>
                </a:tc>
                <a:tc>
                  <a:txBody>
                    <a:bodyPr/>
                    <a:lstStyle/>
                    <a:p>
                      <a:pPr algn="r"/>
                      <a:r>
                        <a:rPr sz="1300" b="0">
                          <a:solidFill>
                            <a:srgbClr val="14181F"/>
                          </a:solidFill>
                          <a:latin typeface="Consolas"/>
                        </a:rPr>
                        <a:t>6.95 ms</a:t>
                      </a:r>
                    </a:p>
                  </a:txBody>
                  <a:tcPr anchor="ctr" marL="91440" marR="91440" marT="0" marB="0">
                    <a:solidFill>
                      <a:srgbClr val="FFFFFF"/>
                    </a:solidFill>
                  </a:tcPr>
                </a:tc>
                <a:tc>
                  <a:txBody>
                    <a:bodyPr/>
                    <a:lstStyle/>
                    <a:p>
                      <a:pPr algn="r"/>
                      <a:r>
                        <a:rPr sz="1300" b="0">
                          <a:solidFill>
                            <a:srgbClr val="14181F"/>
                          </a:solidFill>
                          <a:latin typeface="Consolas"/>
                        </a:rPr>
                        <a:t>5.99 – 51.03</a:t>
                      </a:r>
                    </a:p>
                  </a:txBody>
                  <a:tcPr anchor="ctr" marL="91440" marR="91440" marT="0" marB="0">
                    <a:solidFill>
                      <a:srgbClr val="FFFFFF"/>
                    </a:solidFill>
                  </a:tcPr>
                </a:tc>
                <a:tc>
                  <a:txBody>
                    <a:bodyPr/>
                    <a:lstStyle/>
                    <a:p>
                      <a:pPr algn="r"/>
                      <a:r>
                        <a:rPr sz="1300" b="0">
                          <a:solidFill>
                            <a:srgbClr val="14181F"/>
                          </a:solidFill>
                          <a:latin typeface="Consolas"/>
                        </a:rPr>
                        <a:t>+28.6 %</a:t>
                      </a:r>
                    </a:p>
                  </a:txBody>
                  <a:tcPr anchor="ctr" marL="91440" marR="91440" marT="0" marB="0">
                    <a:solidFill>
                      <a:srgbClr val="FFFFFF"/>
                    </a:solidFill>
                  </a:tcPr>
                </a:tc>
                <a:tc>
                  <a:txBody>
                    <a:bodyPr/>
                    <a:lstStyle/>
                    <a:p>
                      <a:pPr algn="r"/>
                      <a:r>
                        <a:rPr sz="1300" b="0">
                          <a:solidFill>
                            <a:srgbClr val="14181F"/>
                          </a:solidFill>
                          <a:latin typeface="Consolas"/>
                        </a:rPr>
                        <a:t>0.0317</a:t>
                      </a:r>
                    </a:p>
                  </a:txBody>
                  <a:tcPr anchor="ctr" marL="91440" marR="91440" marT="0" marB="0">
                    <a:solidFill>
                      <a:srgbClr val="FFFFFF"/>
                    </a:solidFill>
                  </a:tcPr>
                </a:tc>
              </a:tr>
              <a:tr h="310896">
                <a:tc>
                  <a:txBody>
                    <a:bodyPr/>
                    <a:lstStyle/>
                    <a:p>
                      <a:pPr algn="l"/>
                      <a:r>
                        <a:rPr sz="1300" b="0">
                          <a:solidFill>
                            <a:srgbClr val="14181F"/>
                          </a:solidFill>
                          <a:latin typeface="Consolas"/>
                        </a:rPr>
                        <a:t>WRAPPER_B3</a:t>
                      </a:r>
                    </a:p>
                  </a:txBody>
                  <a:tcPr anchor="ctr" marL="91440" marR="91440" marT="0" marB="0">
                    <a:solidFill>
                      <a:srgbClr val="FFFFFF"/>
                    </a:solidFill>
                  </a:tcPr>
                </a:tc>
                <a:tc>
                  <a:txBody>
                    <a:bodyPr/>
                    <a:lstStyle/>
                    <a:p>
                      <a:pPr algn="r"/>
                      <a:r>
                        <a:rPr sz="1300" b="0">
                          <a:solidFill>
                            <a:srgbClr val="14181F"/>
                          </a:solidFill>
                          <a:latin typeface="Consolas"/>
                        </a:rPr>
                        <a:t>7.04 ms</a:t>
                      </a:r>
                    </a:p>
                  </a:txBody>
                  <a:tcPr anchor="ctr" marL="91440" marR="91440" marT="0" marB="0">
                    <a:solidFill>
                      <a:srgbClr val="FFFFFF"/>
                    </a:solidFill>
                  </a:tcPr>
                </a:tc>
                <a:tc>
                  <a:txBody>
                    <a:bodyPr/>
                    <a:lstStyle/>
                    <a:p>
                      <a:pPr algn="r"/>
                      <a:r>
                        <a:rPr sz="1300" b="0">
                          <a:solidFill>
                            <a:srgbClr val="14181F"/>
                          </a:solidFill>
                          <a:latin typeface="Consolas"/>
                        </a:rPr>
                        <a:t>6.58 – 7.59</a:t>
                      </a:r>
                    </a:p>
                  </a:txBody>
                  <a:tcPr anchor="ctr" marL="91440" marR="91440" marT="0" marB="0">
                    <a:solidFill>
                      <a:srgbClr val="FFFFFF"/>
                    </a:solidFill>
                  </a:tcPr>
                </a:tc>
                <a:tc>
                  <a:txBody>
                    <a:bodyPr/>
                    <a:lstStyle/>
                    <a:p>
                      <a:pPr algn="r"/>
                      <a:r>
                        <a:rPr sz="1300" b="0">
                          <a:solidFill>
                            <a:srgbClr val="14181F"/>
                          </a:solidFill>
                          <a:latin typeface="Consolas"/>
                        </a:rPr>
                        <a:t>+30.4 %</a:t>
                      </a:r>
                    </a:p>
                  </a:txBody>
                  <a:tcPr anchor="ctr" marL="91440" marR="91440" marT="0" marB="0">
                    <a:solidFill>
                      <a:srgbClr val="FFFFFF"/>
                    </a:solidFill>
                  </a:tcPr>
                </a:tc>
                <a:tc>
                  <a:txBody>
                    <a:bodyPr/>
                    <a:lstStyle/>
                    <a:p>
                      <a:pPr algn="r"/>
                      <a:r>
                        <a:rPr sz="1300" b="0">
                          <a:solidFill>
                            <a:srgbClr val="14181F"/>
                          </a:solidFill>
                          <a:latin typeface="Consolas"/>
                        </a:rPr>
                        <a:t>0.0079</a:t>
                      </a:r>
                    </a:p>
                  </a:txBody>
                  <a:tcPr anchor="ctr" marL="91440" marR="91440" marT="0" marB="0">
                    <a:solidFill>
                      <a:srgbClr val="FFFFFF"/>
                    </a:solidFill>
                  </a:tcPr>
                </a:tc>
              </a:tr>
              <a:tr h="310896">
                <a:tc>
                  <a:txBody>
                    <a:bodyPr/>
                    <a:lstStyle/>
                    <a:p>
                      <a:pPr algn="l"/>
                      <a:r>
                        <a:rPr sz="1300" b="0">
                          <a:solidFill>
                            <a:srgbClr val="14181F"/>
                          </a:solidFill>
                          <a:latin typeface="Consolas"/>
                        </a:rPr>
                        <a:t>HYBRID</a:t>
                      </a:r>
                    </a:p>
                  </a:txBody>
                  <a:tcPr anchor="ctr" marL="91440" marR="91440" marT="0" marB="0">
                    <a:solidFill>
                      <a:srgbClr val="FFFFFF"/>
                    </a:solidFill>
                  </a:tcPr>
                </a:tc>
                <a:tc>
                  <a:txBody>
                    <a:bodyPr/>
                    <a:lstStyle/>
                    <a:p>
                      <a:pPr algn="r"/>
                      <a:r>
                        <a:rPr sz="1300" b="0">
                          <a:solidFill>
                            <a:srgbClr val="14181F"/>
                          </a:solidFill>
                          <a:latin typeface="Consolas"/>
                        </a:rPr>
                        <a:t>7.77 ms</a:t>
                      </a:r>
                    </a:p>
                  </a:txBody>
                  <a:tcPr anchor="ctr" marL="91440" marR="91440" marT="0" marB="0">
                    <a:solidFill>
                      <a:srgbClr val="FFFFFF"/>
                    </a:solidFill>
                  </a:tcPr>
                </a:tc>
                <a:tc>
                  <a:txBody>
                    <a:bodyPr/>
                    <a:lstStyle/>
                    <a:p>
                      <a:pPr algn="r"/>
                      <a:r>
                        <a:rPr sz="1300" b="0">
                          <a:solidFill>
                            <a:srgbClr val="14181F"/>
                          </a:solidFill>
                          <a:latin typeface="Consolas"/>
                        </a:rPr>
                        <a:t>7.06 – 8.13</a:t>
                      </a:r>
                    </a:p>
                  </a:txBody>
                  <a:tcPr anchor="ctr" marL="91440" marR="91440" marT="0" marB="0">
                    <a:solidFill>
                      <a:srgbClr val="FFFFFF"/>
                    </a:solidFill>
                  </a:tcPr>
                </a:tc>
                <a:tc>
                  <a:txBody>
                    <a:bodyPr/>
                    <a:lstStyle/>
                    <a:p>
                      <a:pPr algn="r"/>
                      <a:r>
                        <a:rPr sz="1300" b="0">
                          <a:solidFill>
                            <a:srgbClr val="14181F"/>
                          </a:solidFill>
                          <a:latin typeface="Consolas"/>
                        </a:rPr>
                        <a:t>+43.8 %</a:t>
                      </a:r>
                    </a:p>
                  </a:txBody>
                  <a:tcPr anchor="ctr" marL="91440" marR="91440" marT="0" marB="0">
                    <a:solidFill>
                      <a:srgbClr val="FFFFFF"/>
                    </a:solidFill>
                  </a:tcPr>
                </a:tc>
                <a:tc>
                  <a:txBody>
                    <a:bodyPr/>
                    <a:lstStyle/>
                    <a:p>
                      <a:pPr algn="r"/>
                      <a:r>
                        <a:rPr sz="1300" b="0">
                          <a:solidFill>
                            <a:srgbClr val="14181F"/>
                          </a:solidFill>
                          <a:latin typeface="Consolas"/>
                        </a:rPr>
                        <a:t>0.0079</a:t>
                      </a:r>
                    </a:p>
                  </a:txBody>
                  <a:tcPr anchor="ctr" marL="91440" marR="91440" marT="0" marB="0">
                    <a:solidFill>
                      <a:srgbClr val="FFFFFF"/>
                    </a:solidFill>
                  </a:tcPr>
                </a:tc>
              </a:tr>
            </a:tbl>
          </a:graphicData>
        </a:graphic>
      </p:graphicFrame>
      <p:sp>
        <p:nvSpPr>
          <p:cNvPr id="5" name="TextBox 4"/>
          <p:cNvSpPr txBox="1"/>
          <p:nvPr/>
        </p:nvSpPr>
        <p:spPr>
          <a:xfrm>
            <a:off x="777240" y="5074920"/>
            <a:ext cx="10607040" cy="1371600"/>
          </a:xfrm>
          <a:prstGeom prst="rect">
            <a:avLst/>
          </a:prstGeom>
          <a:noFill/>
        </p:spPr>
        <p:txBody>
          <a:bodyPr wrap="square" lIns="0" rIns="0" tIns="0" bIns="0">
            <a:spAutoFit/>
          </a:bodyPr>
          <a:lstStyle/>
          <a:p>
            <a:pPr algn="l">
              <a:lnSpc>
                <a:spcPct val="100000"/>
              </a:lnSpc>
              <a:spcBef>
                <a:spcPts val="0"/>
              </a:spcBef>
              <a:spcAft>
                <a:spcPts val="800"/>
              </a:spcAft>
            </a:pPr>
            <a:r>
              <a:rPr sz="1700" b="1">
                <a:solidFill>
                  <a:srgbClr val="14181F"/>
                </a:solidFill>
                <a:latin typeface="Calibri"/>
              </a:rPr>
              <a:t>p95, not p99 — and the reason is itself a result.</a:t>
            </a:r>
          </a:p>
          <a:p>
            <a:pPr algn="l">
              <a:lnSpc>
                <a:spcPct val="125000"/>
              </a:lnSpc>
              <a:spcBef>
                <a:spcPts val="0"/>
              </a:spcBef>
              <a:spcAft>
                <a:spcPts val="600"/>
              </a:spcAft>
            </a:pPr>
            <a:r>
              <a:rPr sz="1500" b="0">
                <a:solidFill>
                  <a:srgbClr val="5A636F"/>
                </a:solidFill>
                <a:latin typeface="Calibri"/>
              </a:rPr>
              <a:t>At p99 this rig cannot separate the modes at all. The uninstrumented OFF control, which does nothing, produced p99 values of 6.7, 8.9, 10.2, 197.3 and 278.7 ms across five identical runs — a 40× spread. Any p99 difference smaller than that is noise being read as a result, so p95 is used and the instability is reported as a limitation.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THE FINDING THAT MATTERS MOST</a:t>
            </a:r>
          </a:p>
          <a:p>
            <a:pPr algn="l">
              <a:lnSpc>
                <a:spcPct val="95000"/>
              </a:lnSpc>
              <a:spcBef>
                <a:spcPts val="0"/>
              </a:spcBef>
              <a:spcAft>
                <a:spcPts val="400"/>
              </a:spcAft>
            </a:pPr>
            <a:r>
              <a:rPr sz="3000" b="0">
                <a:solidFill>
                  <a:srgbClr val="14181F"/>
                </a:solidFill>
                <a:latin typeface="Georgia"/>
              </a:rPr>
              <a:t>CDC delivered the right number of empty events</a:t>
            </a:r>
          </a:p>
          <a:p>
            <a:pPr algn="l">
              <a:lnSpc>
                <a:spcPct val="100000"/>
              </a:lnSpc>
              <a:spcBef>
                <a:spcPts val="600"/>
              </a:spcBef>
              <a:spcAft>
                <a:spcPts val="600"/>
              </a:spcAft>
            </a:pPr>
            <a:r>
              <a:rPr sz="1400" b="0">
                <a:solidFill>
                  <a:srgbClr val="5A636F"/>
                </a:solidFill>
                <a:latin typeface="Calibri"/>
              </a:rPr>
              <a:t>Connector healthy. No warning. Every count correct. Two thirds of the events unusable.</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sp>
        <p:nvSpPr>
          <p:cNvPr id="4" name="Rectangle 3"/>
          <p:cNvSpPr/>
          <p:nvPr/>
        </p:nvSpPr>
        <p:spPr>
          <a:xfrm>
            <a:off x="777240" y="2148840"/>
            <a:ext cx="10637215" cy="914400"/>
          </a:xfrm>
          <a:prstGeom prst="rect">
            <a:avLst/>
          </a:prstGeom>
          <a:solidFill>
            <a:srgbClr val="FFFFFF"/>
          </a:solidFill>
          <a:ln w="9525">
            <a:solidFill>
              <a:srgbClr val="D2D8E0"/>
            </a:solidFill>
          </a:ln>
          <a:effectLst/>
        </p:spPr>
        <p:txBody>
          <a:bodyPr rtlCol="0" anchor="ctr"/>
          <a:lstStyle/>
          <a:p>
            <a:pPr algn="ctr"/>
          </a:p>
        </p:txBody>
      </p:sp>
      <p:sp>
        <p:nvSpPr>
          <p:cNvPr id="5" name="TextBox 4"/>
          <p:cNvSpPr txBox="1"/>
          <p:nvPr/>
        </p:nvSpPr>
        <p:spPr>
          <a:xfrm>
            <a:off x="1051560" y="2377440"/>
            <a:ext cx="10088575" cy="548640"/>
          </a:xfrm>
          <a:prstGeom prst="rect">
            <a:avLst/>
          </a:prstGeom>
          <a:noFill/>
        </p:spPr>
        <p:txBody>
          <a:bodyPr wrap="square" lIns="0" rIns="0" tIns="0" bIns="0">
            <a:spAutoFit/>
          </a:bodyPr>
          <a:lstStyle/>
          <a:p>
            <a:pPr algn="l">
              <a:lnSpc>
                <a:spcPct val="100000"/>
              </a:lnSpc>
              <a:spcBef>
                <a:spcPts val="0"/>
              </a:spcBef>
              <a:spcAft>
                <a:spcPts val="600"/>
              </a:spcAft>
            </a:pPr>
            <a:r>
              <a:rPr sz="1500" b="0">
                <a:solidFill>
                  <a:srgbClr val="A3302B"/>
                </a:solidFill>
                <a:latin typeface="Consolas"/>
              </a:rPr>
              <a:t>{ "TXN_ID": "0", "TXN_REF": "", "AMOUNT": "0.0000", "STATUS": "VALIDATED" }</a:t>
            </a:r>
          </a:p>
        </p:txBody>
      </p:sp>
      <p:sp>
        <p:nvSpPr>
          <p:cNvPr id="6" name="TextBox 5"/>
          <p:cNvSpPr txBox="1"/>
          <p:nvPr/>
        </p:nvSpPr>
        <p:spPr>
          <a:xfrm>
            <a:off x="777240" y="3429000"/>
            <a:ext cx="10637215" cy="2788920"/>
          </a:xfrm>
          <a:prstGeom prst="rect">
            <a:avLst/>
          </a:prstGeom>
          <a:noFill/>
        </p:spPr>
        <p:txBody>
          <a:bodyPr wrap="square" lIns="0" rIns="0" tIns="0" bIns="0">
            <a:spAutoFit/>
          </a:bodyPr>
          <a:lstStyle/>
          <a:p>
            <a:pPr>
              <a:lnSpc>
                <a:spcPct val="125000"/>
              </a:lnSpc>
              <a:spcAft>
                <a:spcPts val="1400"/>
              </a:spcAft>
            </a:pPr>
            <a:r>
              <a:rPr sz="1500" b="1">
                <a:solidFill>
                  <a:srgbClr val="14181F"/>
                </a:solidFill>
                <a:latin typeface="Calibri"/>
              </a:rPr>
              <a:t>9 003 messages for 9 003 committed transitions.  </a:t>
            </a:r>
            <a:r>
              <a:rPr sz="1500">
                <a:solidFill>
                  <a:srgbClr val="5A636F"/>
                </a:solidFill>
                <a:latin typeface="Calibri"/>
              </a:rPr>
              <a:t>Every count matched. Every message was valid JSON. The connector reported RUNNING throughout and logged no warning.</a:t>
            </a:r>
          </a:p>
          <a:p>
            <a:pPr>
              <a:lnSpc>
                <a:spcPct val="125000"/>
              </a:lnSpc>
              <a:spcAft>
                <a:spcPts val="1400"/>
              </a:spcAft>
            </a:pPr>
            <a:r>
              <a:rPr sz="1500" b="1">
                <a:solidFill>
                  <a:srgbClr val="14181F"/>
                </a:solidFill>
                <a:latin typeface="Calibri"/>
              </a:rPr>
              <a:t>The cause: minimal supplemental logging.  </a:t>
            </a:r>
            <a:r>
              <a:rPr sz="1500">
                <a:solidFill>
                  <a:srgbClr val="5A636F"/>
                </a:solidFill>
                <a:latin typeface="Calibri"/>
              </a:rPr>
              <a:t>The redo record for an UPDATE holds only the changed columns, and Debezium fills what redo does not supply with type defaults.</a:t>
            </a:r>
          </a:p>
          <a:p>
            <a:pPr>
              <a:lnSpc>
                <a:spcPct val="125000"/>
              </a:lnSpc>
              <a:spcAft>
                <a:spcPts val="1400"/>
              </a:spcAft>
            </a:pPr>
            <a:r>
              <a:rPr sz="1500" b="1">
                <a:solidFill>
                  <a:srgbClr val="14181F"/>
                </a:solidFill>
                <a:latin typeface="Calibri"/>
              </a:rPr>
              <a:t>Every count-based validation passes perfectly.  </a:t>
            </a:r>
            <a:r>
              <a:rPr sz="1500">
                <a:solidFill>
                  <a:srgbClr val="5A636F"/>
                </a:solidFill>
                <a:latin typeface="Calibri"/>
              </a:rPr>
              <a:t>Which is the monitoring most production CDC deployments actually have. Only reconciliation on a semantic key against an independent ground truth exposes it.</a:t>
            </a:r>
          </a:p>
        </p:txBody>
      </p:sp>
      <p:sp>
        <p:nvSpPr>
          <p:cNvPr id="7" name="TextBox 6"/>
          <p:cNvSpPr txBox="1"/>
          <p:nvPr/>
        </p:nvSpPr>
        <p:spPr>
          <a:xfrm>
            <a:off x="777240" y="5623560"/>
            <a:ext cx="10607040" cy="822960"/>
          </a:xfrm>
          <a:prstGeom prst="rect">
            <a:avLst/>
          </a:prstGeom>
          <a:noFill/>
        </p:spPr>
        <p:txBody>
          <a:bodyPr wrap="square" lIns="0" rIns="0" tIns="0" bIns="0">
            <a:spAutoFit/>
          </a:bodyPr>
          <a:lstStyle/>
          <a:p>
            <a:pPr algn="l">
              <a:lnSpc>
                <a:spcPct val="100000"/>
              </a:lnSpc>
              <a:spcBef>
                <a:spcPts val="0"/>
              </a:spcBef>
              <a:spcAft>
                <a:spcPts val="600"/>
              </a:spcAft>
            </a:pPr>
            <a:r>
              <a:rPr sz="1800" b="1">
                <a:solidFill>
                  <a:srgbClr val="A3302B"/>
                </a:solidFill>
                <a:latin typeface="Calibri"/>
              </a:rPr>
              <a:t>Counting events does not measure an event pipeline.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HONESTY</a:t>
            </a:r>
          </a:p>
          <a:p>
            <a:pPr algn="l">
              <a:lnSpc>
                <a:spcPct val="95000"/>
              </a:lnSpc>
              <a:spcBef>
                <a:spcPts val="0"/>
              </a:spcBef>
              <a:spcAft>
                <a:spcPts val="400"/>
              </a:spcAft>
            </a:pPr>
            <a:r>
              <a:rPr sz="3000" b="0">
                <a:solidFill>
                  <a:srgbClr val="14181F"/>
                </a:solidFill>
                <a:latin typeface="Georgia"/>
              </a:rPr>
              <a:t>What replication changed</a:t>
            </a:r>
          </a:p>
          <a:p>
            <a:pPr algn="l">
              <a:lnSpc>
                <a:spcPct val="100000"/>
              </a:lnSpc>
              <a:spcBef>
                <a:spcPts val="600"/>
              </a:spcBef>
              <a:spcAft>
                <a:spcPts val="600"/>
              </a:spcAft>
            </a:pPr>
            <a:r>
              <a:rPr sz="1400" b="0">
                <a:solidFill>
                  <a:srgbClr val="5A636F"/>
                </a:solidFill>
                <a:latin typeface="Calibri"/>
              </a:rPr>
              <a:t>Three readings from single runs were reversed by five repetitions. Each was flagged at the time as a hypothesis, not a result.</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sp>
        <p:nvSpPr>
          <p:cNvPr id="4" name="TextBox 3"/>
          <p:cNvSpPr txBox="1"/>
          <p:nvPr/>
        </p:nvSpPr>
        <p:spPr>
          <a:xfrm>
            <a:off x="777240" y="2148840"/>
            <a:ext cx="10637215" cy="4069080"/>
          </a:xfrm>
          <a:prstGeom prst="rect">
            <a:avLst/>
          </a:prstGeom>
          <a:noFill/>
        </p:spPr>
        <p:txBody>
          <a:bodyPr wrap="square" lIns="0" rIns="0" tIns="0" bIns="0">
            <a:spAutoFit/>
          </a:bodyPr>
          <a:lstStyle/>
          <a:p>
            <a:pPr>
              <a:lnSpc>
                <a:spcPct val="125000"/>
              </a:lnSpc>
              <a:spcAft>
                <a:spcPts val="1400"/>
              </a:spcAft>
            </a:pPr>
            <a:r>
              <a:rPr sz="1600" b="1">
                <a:solidFill>
                  <a:srgbClr val="14181F"/>
                </a:solidFill>
                <a:latin typeface="Calibri"/>
              </a:rPr>
              <a:t>AQ versus the outbox on the payment path.  </a:t>
            </a:r>
            <a:r>
              <a:rPr sz="1600">
                <a:solidFill>
                  <a:srgbClr val="5A636F"/>
                </a:solidFill>
                <a:latin typeface="Calibri"/>
              </a:rPr>
              <a:t>The pilot showed AQ cheaper — 37.6 ms against 166 ms. At n = 5 the ordering is the other way round.</a:t>
            </a:r>
          </a:p>
          <a:p>
            <a:pPr>
              <a:lnSpc>
                <a:spcPct val="125000"/>
              </a:lnSpc>
              <a:spcAft>
                <a:spcPts val="1400"/>
              </a:spcAft>
            </a:pPr>
            <a:r>
              <a:rPr sz="1600" b="1">
                <a:solidFill>
                  <a:srgbClr val="14181F"/>
                </a:solidFill>
                <a:latin typeface="Calibri"/>
              </a:rPr>
              <a:t>Hybrid versus plain CDC.  </a:t>
            </a:r>
            <a:r>
              <a:rPr sz="1600">
                <a:solidFill>
                  <a:srgbClr val="5A636F"/>
                </a:solidFill>
                <a:latin typeface="Calibri"/>
              </a:rPr>
              <a:t>The pilot put the hybrid slower; at n = 5 it is consistently faster, and the two are better read as one latency class.</a:t>
            </a:r>
          </a:p>
          <a:p>
            <a:pPr>
              <a:lnSpc>
                <a:spcPct val="125000"/>
              </a:lnSpc>
              <a:spcAft>
                <a:spcPts val="1400"/>
              </a:spcAft>
            </a:pPr>
            <a:r>
              <a:rPr sz="1600" b="1">
                <a:solidFill>
                  <a:srgbClr val="14181F"/>
                </a:solidFill>
                <a:latin typeface="Calibri"/>
              </a:rPr>
              <a:t>The metric both readings rested on.  </a:t>
            </a:r>
            <a:r>
              <a:rPr sz="1600">
                <a:solidFill>
                  <a:srgbClr val="5A636F"/>
                </a:solidFill>
                <a:latin typeface="Calibri"/>
              </a:rPr>
              <a:t>HTTP p99 turns out not to be usable on this rig at all — the control itself varies 40× across identical runs.</a:t>
            </a:r>
          </a:p>
          <a:p>
            <a:pPr>
              <a:lnSpc>
                <a:spcPct val="125000"/>
              </a:lnSpc>
              <a:spcAft>
                <a:spcPts val="1400"/>
              </a:spcAft>
            </a:pPr>
            <a:r>
              <a:rPr sz="1600" b="1">
                <a:solidFill>
                  <a:srgbClr val="14181F"/>
                </a:solidFill>
                <a:latin typeface="Calibri"/>
              </a:rPr>
              <a:t>One claim of my own, retracted.  </a:t>
            </a:r>
            <a:r>
              <a:rPr sz="1600">
                <a:solidFill>
                  <a:srgbClr val="5A636F"/>
                </a:solidFill>
                <a:latin typeface="Calibri"/>
              </a:rPr>
              <a:t>The analysis document stated that relaying the outbox with Debezium 'cuts end-to-end latency'. It is false by a factor of 27. Corrected in the source; Chapter 7 needs the same correction.</a:t>
            </a:r>
          </a:p>
        </p:txBody>
      </p:sp>
      <p:sp>
        <p:nvSpPr>
          <p:cNvPr id="5" name="TextBox 4"/>
          <p:cNvSpPr txBox="1"/>
          <p:nvPr/>
        </p:nvSpPr>
        <p:spPr>
          <a:xfrm>
            <a:off x="777240" y="5532120"/>
            <a:ext cx="10607040" cy="822960"/>
          </a:xfrm>
          <a:prstGeom prst="rect">
            <a:avLst/>
          </a:prstGeom>
          <a:noFill/>
        </p:spPr>
        <p:txBody>
          <a:bodyPr wrap="square" lIns="0" rIns="0" tIns="0" bIns="0">
            <a:spAutoFit/>
          </a:bodyPr>
          <a:lstStyle/>
          <a:p>
            <a:pPr algn="l">
              <a:lnSpc>
                <a:spcPct val="125000"/>
              </a:lnSpc>
              <a:spcBef>
                <a:spcPts val="0"/>
              </a:spcBef>
              <a:spcAft>
                <a:spcPts val="600"/>
              </a:spcAft>
            </a:pPr>
            <a:r>
              <a:rPr sz="1500" b="1">
                <a:solidFill>
                  <a:srgbClr val="14181F"/>
                </a:solidFill>
                <a:latin typeface="Calibri"/>
              </a:rPr>
              <a:t>Six defects were found by measuring the harness against its own subject. Three would have produced a better-looking result than the truth.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CLAIM C2 — DESIGNED, QUEUED</a:t>
            </a:r>
          </a:p>
          <a:p>
            <a:pPr algn="l">
              <a:lnSpc>
                <a:spcPct val="95000"/>
              </a:lnSpc>
              <a:spcBef>
                <a:spcPts val="0"/>
              </a:spcBef>
              <a:spcAft>
                <a:spcPts val="400"/>
              </a:spcAft>
            </a:pPr>
            <a:r>
              <a:rPr sz="3000" b="0">
                <a:solidFill>
                  <a:srgbClr val="14181F"/>
                </a:solidFill>
                <a:latin typeface="Georgia"/>
              </a:rPr>
              <a:t>Does LogMiner cost track the redo it scans, or the redo it uses?</a:t>
            </a:r>
          </a:p>
          <a:p>
            <a:pPr algn="l">
              <a:lnSpc>
                <a:spcPct val="100000"/>
              </a:lnSpc>
              <a:spcBef>
                <a:spcPts val="600"/>
              </a:spcBef>
              <a:spcAft>
                <a:spcPts val="600"/>
              </a:spcAft>
            </a:pPr>
            <a:r>
              <a:rPr sz="1400" b="0">
                <a:solidFill>
                  <a:srgbClr val="5A636F"/>
                </a:solidFill>
                <a:latin typeface="Calibri"/>
              </a:rPr>
              <a:t>The practitioner assumption is that narrowing table.include.list narrows the cost. If that is wrong, it is wrong in a way that decides whether a bank allows CDC on its core instance.</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sp>
        <p:nvSpPr>
          <p:cNvPr id="4" name="TextBox 3"/>
          <p:cNvSpPr txBox="1"/>
          <p:nvPr/>
        </p:nvSpPr>
        <p:spPr>
          <a:xfrm>
            <a:off x="777240" y="2148840"/>
            <a:ext cx="10637215" cy="4069080"/>
          </a:xfrm>
          <a:prstGeom prst="rect">
            <a:avLst/>
          </a:prstGeom>
          <a:noFill/>
        </p:spPr>
        <p:txBody>
          <a:bodyPr wrap="square" lIns="0" rIns="0" tIns="0" bIns="0">
            <a:spAutoFit/>
          </a:bodyPr>
          <a:lstStyle/>
          <a:p>
            <a:pPr>
              <a:lnSpc>
                <a:spcPct val="125000"/>
              </a:lnSpc>
              <a:spcAft>
                <a:spcPts val="1400"/>
              </a:spcAft>
            </a:pPr>
            <a:r>
              <a:rPr sz="1600" b="1">
                <a:solidFill>
                  <a:srgbClr val="14181F"/>
                </a:solidFill>
                <a:latin typeface="Calibri"/>
              </a:rPr>
              <a:t>Falsification conditions fixed before any data exists.  </a:t>
            </a:r>
            <a:r>
              <a:rPr sz="1600">
                <a:solidFill>
                  <a:srgbClr val="5A636F"/>
                </a:solidFill>
                <a:latin typeface="Calibri"/>
              </a:rPr>
              <a:t>C2 fails if the fitted coefficient on total redo is not significantly greater than zero, or if widening the capture scope raises cost in proportion to the captured volume.</a:t>
            </a:r>
          </a:p>
          <a:p>
            <a:pPr>
              <a:lnSpc>
                <a:spcPct val="125000"/>
              </a:lnSpc>
              <a:spcAft>
                <a:spcPts val="1400"/>
              </a:spcAft>
            </a:pPr>
            <a:r>
              <a:rPr sz="1600" b="1">
                <a:solidFill>
                  <a:srgbClr val="14181F"/>
                </a:solidFill>
                <a:latin typeface="Calibri"/>
              </a:rPr>
              <a:t>C2a — vary only the redo the connector discards.  </a:t>
            </a:r>
            <a:r>
              <a:rPr sz="1600">
                <a:solidFill>
                  <a:srgbClr val="5A636F"/>
                </a:solidFill>
                <a:latin typeface="Calibri"/>
              </a:rPr>
              <a:t>Captured workload held constant; noise written to a table outside the include list at five paced levels; each level run with the connector present and absent, so cost is a difference of differences.</a:t>
            </a:r>
          </a:p>
          <a:p>
            <a:pPr>
              <a:lnSpc>
                <a:spcPct val="125000"/>
              </a:lnSpc>
              <a:spcAft>
                <a:spcPts val="1400"/>
              </a:spcAft>
            </a:pPr>
            <a:r>
              <a:rPr sz="1600" b="1">
                <a:solidFill>
                  <a:srgbClr val="14181F"/>
                </a:solidFill>
                <a:latin typeface="Calibri"/>
              </a:rPr>
              <a:t>C2b — vary the scope at constant total redo.  </a:t>
            </a:r>
            <a:r>
              <a:rPr sz="1600">
                <a:solidFill>
                  <a:srgbClr val="5A636F"/>
                </a:solidFill>
                <a:latin typeface="Calibri"/>
              </a:rPr>
              <a:t>Because scope is the lever a DBA actually has.</a:t>
            </a:r>
          </a:p>
          <a:p>
            <a:pPr>
              <a:lnSpc>
                <a:spcPct val="125000"/>
              </a:lnSpc>
              <a:spcAft>
                <a:spcPts val="1400"/>
              </a:spcAft>
            </a:pPr>
            <a:r>
              <a:rPr sz="1600" b="1">
                <a:solidFill>
                  <a:srgbClr val="14181F"/>
                </a:solidFill>
                <a:latin typeface="Calibri"/>
              </a:rPr>
              <a:t>The analysis was validated in both directions.  </a:t>
            </a:r>
            <a:r>
              <a:rPr sz="1600">
                <a:solidFill>
                  <a:srgbClr val="5A636F"/>
                </a:solidFill>
                <a:latin typeface="Calibri"/>
              </a:rPr>
              <a:t>Against synthetic data with known coefficients: given a = 40 it recovered 40.01; given a = 0 it returned an interval containing zero and reported C2 falsified. An analysis that can only confirm its own hypothesis is not a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WHERE THE THESIS STANDS</a:t>
            </a:r>
          </a:p>
          <a:p>
            <a:pPr algn="l">
              <a:lnSpc>
                <a:spcPct val="95000"/>
              </a:lnSpc>
              <a:spcBef>
                <a:spcPts val="0"/>
              </a:spcBef>
              <a:spcAft>
                <a:spcPts val="400"/>
              </a:spcAft>
            </a:pPr>
            <a:r>
              <a:rPr sz="3000" b="0">
                <a:solidFill>
                  <a:srgbClr val="14181F"/>
                </a:solidFill>
                <a:latin typeface="Georgia"/>
              </a:rPr>
              <a:t>The position has inverted, and in the right direction</a:t>
            </a:r>
          </a:p>
          <a:p>
            <a:pPr algn="l">
              <a:lnSpc>
                <a:spcPct val="100000"/>
              </a:lnSpc>
              <a:spcBef>
                <a:spcPts val="600"/>
              </a:spcBef>
              <a:spcAft>
                <a:spcPts val="600"/>
              </a:spcAft>
            </a:pPr>
            <a:r>
              <a:rPr sz="1400" b="0">
                <a:solidFill>
                  <a:srgbClr val="5A636F"/>
                </a:solidFill>
                <a:latin typeface="Calibri"/>
              </a:rPr>
              <a:t>Infrastructure cannot be rushed at the end; a literature review can be written while the machine runs.</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graphicFrame>
        <p:nvGraphicFramePr>
          <p:cNvPr id="4" name="Table 3"/>
          <p:cNvGraphicFramePr>
            <a:graphicFrameLocks noGrp="1"/>
          </p:cNvGraphicFramePr>
          <p:nvPr/>
        </p:nvGraphicFramePr>
        <p:xfrm>
          <a:off x="777240" y="2194560"/>
          <a:ext cx="10515600" cy="2798064"/>
        </p:xfrm>
        <a:graphic>
          <a:graphicData uri="http://schemas.openxmlformats.org/drawingml/2006/table">
            <a:tbl>
              <a:tblPr firstRow="1" bandRow="1">
                <a:tableStyleId>{5C22544A-7EE6-4342-B048-85BDC9FD1C3A}</a:tableStyleId>
              </a:tblPr>
              <a:tblGrid>
                <a:gridCol w="731520"/>
                <a:gridCol w="4023360"/>
                <a:gridCol w="4480560"/>
                <a:gridCol w="1280160"/>
              </a:tblGrid>
              <a:tr h="310896">
                <a:tc>
                  <a:txBody>
                    <a:bodyPr/>
                    <a:lstStyle/>
                    <a:p>
                      <a:pPr algn="l"/>
                      <a:r>
                        <a:rPr sz="1000" b="1">
                          <a:solidFill>
                            <a:srgbClr val="5A636F"/>
                          </a:solidFill>
                          <a:latin typeface="Consolas"/>
                        </a:rPr>
                        <a:t>Ch.</a:t>
                      </a:r>
                    </a:p>
                  </a:txBody>
                  <a:tcPr anchor="ctr" marL="91440" marR="91440" marT="0" marB="0">
                    <a:solidFill>
                      <a:srgbClr val="EFF2F5"/>
                    </a:solidFill>
                  </a:tcPr>
                </a:tc>
                <a:tc>
                  <a:txBody>
                    <a:bodyPr/>
                    <a:lstStyle/>
                    <a:p>
                      <a:pPr algn="l"/>
                      <a:r>
                        <a:rPr sz="1000" b="1">
                          <a:solidFill>
                            <a:srgbClr val="5A636F"/>
                          </a:solidFill>
                          <a:latin typeface="Consolas"/>
                        </a:rPr>
                        <a:t>Chapter</a:t>
                      </a:r>
                    </a:p>
                  </a:txBody>
                  <a:tcPr anchor="ctr" marL="91440" marR="91440" marT="0" marB="0">
                    <a:solidFill>
                      <a:srgbClr val="EFF2F5"/>
                    </a:solidFill>
                  </a:tcPr>
                </a:tc>
                <a:tc>
                  <a:txBody>
                    <a:bodyPr/>
                    <a:lstStyle/>
                    <a:p>
                      <a:pPr algn="l"/>
                      <a:r>
                        <a:rPr sz="1000" b="1">
                          <a:solidFill>
                            <a:srgbClr val="5A636F"/>
                          </a:solidFill>
                          <a:latin typeface="Consolas"/>
                        </a:rPr>
                        <a:t>State</a:t>
                      </a:r>
                    </a:p>
                  </a:txBody>
                  <a:tcPr anchor="ctr" marL="91440" marR="91440" marT="0" marB="0">
                    <a:solidFill>
                      <a:srgbClr val="EFF2F5"/>
                    </a:solidFill>
                  </a:tcPr>
                </a:tc>
                <a:tc>
                  <a:txBody>
                    <a:bodyPr/>
                    <a:lstStyle/>
                    <a:p>
                      <a:pPr algn="r"/>
                      <a:r>
                        <a:rPr sz="1000" b="1">
                          <a:solidFill>
                            <a:srgbClr val="5A636F"/>
                          </a:solidFill>
                          <a:latin typeface="Consolas"/>
                        </a:rPr>
                        <a:t>Done</a:t>
                      </a:r>
                    </a:p>
                  </a:txBody>
                  <a:tcPr anchor="ctr" marL="91440" marR="91440" marT="0" marB="0">
                    <a:solidFill>
                      <a:srgbClr val="EFF2F5"/>
                    </a:solidFill>
                  </a:tcPr>
                </a:tc>
              </a:tr>
              <a:tr h="310896">
                <a:tc>
                  <a:txBody>
                    <a:bodyPr/>
                    <a:lstStyle/>
                    <a:p>
                      <a:pPr algn="l"/>
                      <a:r>
                        <a:rPr sz="1200" b="0">
                          <a:solidFill>
                            <a:srgbClr val="14181F"/>
                          </a:solidFill>
                          <a:latin typeface="Consolas"/>
                        </a:rPr>
                        <a:t>1</a:t>
                      </a:r>
                    </a:p>
                  </a:txBody>
                  <a:tcPr anchor="ctr" marL="91440" marR="91440" marT="0" marB="0">
                    <a:solidFill>
                      <a:srgbClr val="FFFFFF"/>
                    </a:solidFill>
                  </a:tcPr>
                </a:tc>
                <a:tc>
                  <a:txBody>
                    <a:bodyPr/>
                    <a:lstStyle/>
                    <a:p>
                      <a:pPr algn="l"/>
                      <a:r>
                        <a:rPr sz="1200" b="0">
                          <a:solidFill>
                            <a:srgbClr val="14181F"/>
                          </a:solidFill>
                          <a:latin typeface="Calibri"/>
                        </a:rPr>
                        <a:t>Introduction</a:t>
                      </a:r>
                    </a:p>
                  </a:txBody>
                  <a:tcPr anchor="ctr" marL="91440" marR="91440" marT="0" marB="0">
                    <a:solidFill>
                      <a:srgbClr val="FFFFFF"/>
                    </a:solidFill>
                  </a:tcPr>
                </a:tc>
                <a:tc>
                  <a:txBody>
                    <a:bodyPr/>
                    <a:lstStyle/>
                    <a:p>
                      <a:pPr algn="l"/>
                      <a:r>
                        <a:rPr sz="1200" b="0">
                          <a:solidFill>
                            <a:srgbClr val="14181F"/>
                          </a:solidFill>
                          <a:latin typeface="Calibri"/>
                        </a:rPr>
                        <a:t>Deliberate — written last but one</a:t>
                      </a:r>
                    </a:p>
                  </a:txBody>
                  <a:tcPr anchor="ctr" marL="91440" marR="91440" marT="0" marB="0">
                    <a:solidFill>
                      <a:srgbClr val="FFFFFF"/>
                    </a:solidFill>
                  </a:tcPr>
                </a:tc>
                <a:tc>
                  <a:txBody>
                    <a:bodyPr/>
                    <a:lstStyle/>
                    <a:p>
                      <a:pPr algn="r"/>
                      <a:r>
                        <a:rPr sz="1200" b="0">
                          <a:solidFill>
                            <a:srgbClr val="14181F"/>
                          </a:solidFill>
                          <a:latin typeface="Consolas"/>
                        </a:rPr>
                        <a:t>0 %</a:t>
                      </a:r>
                    </a:p>
                  </a:txBody>
                  <a:tcPr anchor="ctr" marL="91440" marR="91440" marT="0" marB="0">
                    <a:solidFill>
                      <a:srgbClr val="FFFFFF"/>
                    </a:solidFill>
                  </a:tcPr>
                </a:tc>
              </a:tr>
              <a:tr h="310896">
                <a:tc>
                  <a:txBody>
                    <a:bodyPr/>
                    <a:lstStyle/>
                    <a:p>
                      <a:pPr algn="l"/>
                      <a:r>
                        <a:rPr sz="1200" b="0">
                          <a:solidFill>
                            <a:srgbClr val="14181F"/>
                          </a:solidFill>
                          <a:latin typeface="Consolas"/>
                        </a:rPr>
                        <a:t>2</a:t>
                      </a:r>
                    </a:p>
                  </a:txBody>
                  <a:tcPr anchor="ctr" marL="91440" marR="91440" marT="0" marB="0">
                    <a:solidFill>
                      <a:srgbClr val="FFFFFF"/>
                    </a:solidFill>
                  </a:tcPr>
                </a:tc>
                <a:tc>
                  <a:txBody>
                    <a:bodyPr/>
                    <a:lstStyle/>
                    <a:p>
                      <a:pPr algn="l"/>
                      <a:r>
                        <a:rPr sz="1200" b="0">
                          <a:solidFill>
                            <a:srgbClr val="14181F"/>
                          </a:solidFill>
                          <a:latin typeface="Calibri"/>
                        </a:rPr>
                        <a:t>State of the Art</a:t>
                      </a:r>
                    </a:p>
                  </a:txBody>
                  <a:tcPr anchor="ctr" marL="91440" marR="91440" marT="0" marB="0">
                    <a:solidFill>
                      <a:srgbClr val="FFFFFF"/>
                    </a:solidFill>
                  </a:tcPr>
                </a:tc>
                <a:tc>
                  <a:txBody>
                    <a:bodyPr/>
                    <a:lstStyle/>
                    <a:p>
                      <a:pPr algn="l"/>
                      <a:r>
                        <a:rPr sz="1200" b="0">
                          <a:solidFill>
                            <a:srgbClr val="14181F"/>
                          </a:solidFill>
                          <a:latin typeface="Calibri"/>
                        </a:rPr>
                        <a:t>NOT STARTED — the largest risk</a:t>
                      </a:r>
                    </a:p>
                  </a:txBody>
                  <a:tcPr anchor="ctr" marL="91440" marR="91440" marT="0" marB="0">
                    <a:solidFill>
                      <a:srgbClr val="FFFFFF"/>
                    </a:solidFill>
                  </a:tcPr>
                </a:tc>
                <a:tc>
                  <a:txBody>
                    <a:bodyPr/>
                    <a:lstStyle/>
                    <a:p>
                      <a:pPr algn="r"/>
                      <a:r>
                        <a:rPr sz="1200" b="0">
                          <a:solidFill>
                            <a:srgbClr val="14181F"/>
                          </a:solidFill>
                          <a:latin typeface="Consolas"/>
                        </a:rPr>
                        <a:t>0 %</a:t>
                      </a:r>
                    </a:p>
                  </a:txBody>
                  <a:tcPr anchor="ctr" marL="91440" marR="91440" marT="0" marB="0">
                    <a:solidFill>
                      <a:srgbClr val="FFFFFF"/>
                    </a:solidFill>
                  </a:tcPr>
                </a:tc>
              </a:tr>
              <a:tr h="310896">
                <a:tc>
                  <a:txBody>
                    <a:bodyPr/>
                    <a:lstStyle/>
                    <a:p>
                      <a:pPr algn="l"/>
                      <a:r>
                        <a:rPr sz="1200" b="0">
                          <a:solidFill>
                            <a:srgbClr val="14181F"/>
                          </a:solidFill>
                          <a:latin typeface="Consolas"/>
                        </a:rPr>
                        <a:t>3</a:t>
                      </a:r>
                    </a:p>
                  </a:txBody>
                  <a:tcPr anchor="ctr" marL="91440" marR="91440" marT="0" marB="0">
                    <a:solidFill>
                      <a:srgbClr val="FFFFFF"/>
                    </a:solidFill>
                  </a:tcPr>
                </a:tc>
                <a:tc>
                  <a:txBody>
                    <a:bodyPr/>
                    <a:lstStyle/>
                    <a:p>
                      <a:pPr algn="l"/>
                      <a:r>
                        <a:rPr sz="1200" b="0">
                          <a:solidFill>
                            <a:srgbClr val="14181F"/>
                          </a:solidFill>
                          <a:latin typeface="Calibri"/>
                        </a:rPr>
                        <a:t>Problem Domain and Requirements</a:t>
                      </a:r>
                    </a:p>
                  </a:txBody>
                  <a:tcPr anchor="ctr" marL="91440" marR="91440" marT="0" marB="0">
                    <a:solidFill>
                      <a:srgbClr val="FFFFFF"/>
                    </a:solidFill>
                  </a:tcPr>
                </a:tc>
                <a:tc>
                  <a:txBody>
                    <a:bodyPr/>
                    <a:lstStyle/>
                    <a:p>
                      <a:pPr algn="l"/>
                      <a:r>
                        <a:rPr sz="1200" b="0">
                          <a:solidFill>
                            <a:srgbClr val="14181F"/>
                          </a:solidFill>
                          <a:latin typeface="Calibri"/>
                        </a:rPr>
                        <a:t>Drafted</a:t>
                      </a:r>
                    </a:p>
                  </a:txBody>
                  <a:tcPr anchor="ctr" marL="91440" marR="91440" marT="0" marB="0">
                    <a:solidFill>
                      <a:srgbClr val="FFFFFF"/>
                    </a:solidFill>
                  </a:tcPr>
                </a:tc>
                <a:tc>
                  <a:txBody>
                    <a:bodyPr/>
                    <a:lstStyle/>
                    <a:p>
                      <a:pPr algn="r"/>
                      <a:r>
                        <a:rPr sz="1200" b="0">
                          <a:solidFill>
                            <a:srgbClr val="14181F"/>
                          </a:solidFill>
                          <a:latin typeface="Consolas"/>
                        </a:rPr>
                        <a:t>70 %</a:t>
                      </a:r>
                    </a:p>
                  </a:txBody>
                  <a:tcPr anchor="ctr" marL="91440" marR="91440" marT="0" marB="0">
                    <a:solidFill>
                      <a:srgbClr val="FFFFFF"/>
                    </a:solidFill>
                  </a:tcPr>
                </a:tc>
              </a:tr>
              <a:tr h="310896">
                <a:tc>
                  <a:txBody>
                    <a:bodyPr/>
                    <a:lstStyle/>
                    <a:p>
                      <a:pPr algn="l"/>
                      <a:r>
                        <a:rPr sz="1200" b="0">
                          <a:solidFill>
                            <a:srgbClr val="14181F"/>
                          </a:solidFill>
                          <a:latin typeface="Consolas"/>
                        </a:rPr>
                        <a:t>4</a:t>
                      </a:r>
                    </a:p>
                  </a:txBody>
                  <a:tcPr anchor="ctr" marL="91440" marR="91440" marT="0" marB="0">
                    <a:solidFill>
                      <a:srgbClr val="FFFFFF"/>
                    </a:solidFill>
                  </a:tcPr>
                </a:tc>
                <a:tc>
                  <a:txBody>
                    <a:bodyPr/>
                    <a:lstStyle/>
                    <a:p>
                      <a:pPr algn="l"/>
                      <a:r>
                        <a:rPr sz="1200" b="0">
                          <a:solidFill>
                            <a:srgbClr val="14181F"/>
                          </a:solidFill>
                          <a:latin typeface="Calibri"/>
                        </a:rPr>
                        <a:t>Design of the Three Approaches</a:t>
                      </a:r>
                    </a:p>
                  </a:txBody>
                  <a:tcPr anchor="ctr" marL="91440" marR="91440" marT="0" marB="0">
                    <a:solidFill>
                      <a:srgbClr val="FFFFFF"/>
                    </a:solidFill>
                  </a:tcPr>
                </a:tc>
                <a:tc>
                  <a:txBody>
                    <a:bodyPr/>
                    <a:lstStyle/>
                    <a:p>
                      <a:pPr algn="l"/>
                      <a:r>
                        <a:rPr sz="1200" b="0">
                          <a:solidFill>
                            <a:srgbClr val="14181F"/>
                          </a:solidFill>
                          <a:latin typeface="Calibri"/>
                        </a:rPr>
                        <a:t>Drafted</a:t>
                      </a:r>
                    </a:p>
                  </a:txBody>
                  <a:tcPr anchor="ctr" marL="91440" marR="91440" marT="0" marB="0">
                    <a:solidFill>
                      <a:srgbClr val="FFFFFF"/>
                    </a:solidFill>
                  </a:tcPr>
                </a:tc>
                <a:tc>
                  <a:txBody>
                    <a:bodyPr/>
                    <a:lstStyle/>
                    <a:p>
                      <a:pPr algn="r"/>
                      <a:r>
                        <a:rPr sz="1200" b="0">
                          <a:solidFill>
                            <a:srgbClr val="14181F"/>
                          </a:solidFill>
                          <a:latin typeface="Consolas"/>
                        </a:rPr>
                        <a:t>85 %</a:t>
                      </a:r>
                    </a:p>
                  </a:txBody>
                  <a:tcPr anchor="ctr" marL="91440" marR="91440" marT="0" marB="0">
                    <a:solidFill>
                      <a:srgbClr val="FFFFFF"/>
                    </a:solidFill>
                  </a:tcPr>
                </a:tc>
              </a:tr>
              <a:tr h="310896">
                <a:tc>
                  <a:txBody>
                    <a:bodyPr/>
                    <a:lstStyle/>
                    <a:p>
                      <a:pPr algn="l"/>
                      <a:r>
                        <a:rPr sz="1200" b="0">
                          <a:solidFill>
                            <a:srgbClr val="14181F"/>
                          </a:solidFill>
                          <a:latin typeface="Consolas"/>
                        </a:rPr>
                        <a:t>5</a:t>
                      </a:r>
                    </a:p>
                  </a:txBody>
                  <a:tcPr anchor="ctr" marL="91440" marR="91440" marT="0" marB="0">
                    <a:solidFill>
                      <a:srgbClr val="FFFFFF"/>
                    </a:solidFill>
                  </a:tcPr>
                </a:tc>
                <a:tc>
                  <a:txBody>
                    <a:bodyPr/>
                    <a:lstStyle/>
                    <a:p>
                      <a:pPr algn="l"/>
                      <a:r>
                        <a:rPr sz="1200" b="0">
                          <a:solidFill>
                            <a:srgbClr val="14181F"/>
                          </a:solidFill>
                          <a:latin typeface="Calibri"/>
                        </a:rPr>
                        <a:t>Implementation</a:t>
                      </a:r>
                    </a:p>
                  </a:txBody>
                  <a:tcPr anchor="ctr" marL="91440" marR="91440" marT="0" marB="0">
                    <a:solidFill>
                      <a:srgbClr val="FFFFFF"/>
                    </a:solidFill>
                  </a:tcPr>
                </a:tc>
                <a:tc>
                  <a:txBody>
                    <a:bodyPr/>
                    <a:lstStyle/>
                    <a:p>
                      <a:pPr algn="l"/>
                      <a:r>
                        <a:rPr sz="1200" b="0">
                          <a:solidFill>
                            <a:srgbClr val="14181F"/>
                          </a:solidFill>
                          <a:latin typeface="Calibri"/>
                        </a:rPr>
                        <a:t>Code written, environment documented</a:t>
                      </a:r>
                    </a:p>
                  </a:txBody>
                  <a:tcPr anchor="ctr" marL="91440" marR="91440" marT="0" marB="0">
                    <a:solidFill>
                      <a:srgbClr val="FFFFFF"/>
                    </a:solidFill>
                  </a:tcPr>
                </a:tc>
                <a:tc>
                  <a:txBody>
                    <a:bodyPr/>
                    <a:lstStyle/>
                    <a:p>
                      <a:pPr algn="r"/>
                      <a:r>
                        <a:rPr sz="1200" b="0">
                          <a:solidFill>
                            <a:srgbClr val="14181F"/>
                          </a:solidFill>
                          <a:latin typeface="Consolas"/>
                        </a:rPr>
                        <a:t>90 %</a:t>
                      </a:r>
                    </a:p>
                  </a:txBody>
                  <a:tcPr anchor="ctr" marL="91440" marR="91440" marT="0" marB="0">
                    <a:solidFill>
                      <a:srgbClr val="FFFFFF"/>
                    </a:solidFill>
                  </a:tcPr>
                </a:tc>
              </a:tr>
              <a:tr h="310896">
                <a:tc>
                  <a:txBody>
                    <a:bodyPr/>
                    <a:lstStyle/>
                    <a:p>
                      <a:pPr algn="l"/>
                      <a:r>
                        <a:rPr sz="1200" b="0">
                          <a:solidFill>
                            <a:srgbClr val="14181F"/>
                          </a:solidFill>
                          <a:latin typeface="Consolas"/>
                        </a:rPr>
                        <a:t>6</a:t>
                      </a:r>
                    </a:p>
                  </a:txBody>
                  <a:tcPr anchor="ctr" marL="91440" marR="91440" marT="0" marB="0">
                    <a:solidFill>
                      <a:srgbClr val="FFFFFF"/>
                    </a:solidFill>
                  </a:tcPr>
                </a:tc>
                <a:tc>
                  <a:txBody>
                    <a:bodyPr/>
                    <a:lstStyle/>
                    <a:p>
                      <a:pPr algn="l"/>
                      <a:r>
                        <a:rPr sz="1200" b="0">
                          <a:solidFill>
                            <a:srgbClr val="14181F"/>
                          </a:solidFill>
                          <a:latin typeface="Calibri"/>
                        </a:rPr>
                        <a:t>Experimental Evaluation</a:t>
                      </a:r>
                    </a:p>
                  </a:txBody>
                  <a:tcPr anchor="ctr" marL="91440" marR="91440" marT="0" marB="0">
                    <a:solidFill>
                      <a:srgbClr val="FFFFFF"/>
                    </a:solidFill>
                  </a:tcPr>
                </a:tc>
                <a:tc>
                  <a:txBody>
                    <a:bodyPr/>
                    <a:lstStyle/>
                    <a:p>
                      <a:pPr algn="l"/>
                      <a:r>
                        <a:rPr sz="1200" b="0">
                          <a:solidFill>
                            <a:srgbClr val="14181F"/>
                          </a:solidFill>
                          <a:latin typeface="Calibri"/>
                        </a:rPr>
                        <a:t>Method written, results arriving</a:t>
                      </a:r>
                    </a:p>
                  </a:txBody>
                  <a:tcPr anchor="ctr" marL="91440" marR="91440" marT="0" marB="0">
                    <a:solidFill>
                      <a:srgbClr val="FFFFFF"/>
                    </a:solidFill>
                  </a:tcPr>
                </a:tc>
                <a:tc>
                  <a:txBody>
                    <a:bodyPr/>
                    <a:lstStyle/>
                    <a:p>
                      <a:pPr algn="r"/>
                      <a:r>
                        <a:rPr sz="1200" b="0">
                          <a:solidFill>
                            <a:srgbClr val="14181F"/>
                          </a:solidFill>
                          <a:latin typeface="Consolas"/>
                        </a:rPr>
                        <a:t>—</a:t>
                      </a:r>
                    </a:p>
                  </a:txBody>
                  <a:tcPr anchor="ctr" marL="91440" marR="91440" marT="0" marB="0">
                    <a:solidFill>
                      <a:srgbClr val="FFFFFF"/>
                    </a:solidFill>
                  </a:tcPr>
                </a:tc>
              </a:tr>
              <a:tr h="310896">
                <a:tc>
                  <a:txBody>
                    <a:bodyPr/>
                    <a:lstStyle/>
                    <a:p>
                      <a:pPr algn="l"/>
                      <a:r>
                        <a:rPr sz="1200" b="0">
                          <a:solidFill>
                            <a:srgbClr val="14181F"/>
                          </a:solidFill>
                          <a:latin typeface="Consolas"/>
                        </a:rPr>
                        <a:t>7</a:t>
                      </a:r>
                    </a:p>
                  </a:txBody>
                  <a:tcPr anchor="ctr" marL="91440" marR="91440" marT="0" marB="0">
                    <a:solidFill>
                      <a:srgbClr val="FFFFFF"/>
                    </a:solidFill>
                  </a:tcPr>
                </a:tc>
                <a:tc>
                  <a:txBody>
                    <a:bodyPr/>
                    <a:lstStyle/>
                    <a:p>
                      <a:pPr algn="l"/>
                      <a:r>
                        <a:rPr sz="1200" b="0">
                          <a:solidFill>
                            <a:srgbClr val="14181F"/>
                          </a:solidFill>
                          <a:latin typeface="Calibri"/>
                        </a:rPr>
                        <a:t>Discussion</a:t>
                      </a:r>
                    </a:p>
                  </a:txBody>
                  <a:tcPr anchor="ctr" marL="91440" marR="91440" marT="0" marB="0">
                    <a:solidFill>
                      <a:srgbClr val="FFFFFF"/>
                    </a:solidFill>
                  </a:tcPr>
                </a:tc>
                <a:tc>
                  <a:txBody>
                    <a:bodyPr/>
                    <a:lstStyle/>
                    <a:p>
                      <a:pPr algn="l"/>
                      <a:r>
                        <a:rPr sz="1200" b="0">
                          <a:solidFill>
                            <a:srgbClr val="14181F"/>
                          </a:solidFill>
                          <a:latin typeface="Calibri"/>
                        </a:rPr>
                        <a:t>One claim to correct</a:t>
                      </a:r>
                    </a:p>
                  </a:txBody>
                  <a:tcPr anchor="ctr" marL="91440" marR="91440" marT="0" marB="0">
                    <a:solidFill>
                      <a:srgbClr val="FFFFFF"/>
                    </a:solidFill>
                  </a:tcPr>
                </a:tc>
                <a:tc>
                  <a:txBody>
                    <a:bodyPr/>
                    <a:lstStyle/>
                    <a:p>
                      <a:pPr algn="r"/>
                      <a:r>
                        <a:rPr sz="1200" b="0">
                          <a:solidFill>
                            <a:srgbClr val="14181F"/>
                          </a:solidFill>
                          <a:latin typeface="Consolas"/>
                        </a:rPr>
                        <a:t>75 %</a:t>
                      </a:r>
                    </a:p>
                  </a:txBody>
                  <a:tcPr anchor="ctr" marL="91440" marR="91440" marT="0" marB="0">
                    <a:solidFill>
                      <a:srgbClr val="FFFFFF"/>
                    </a:solidFill>
                  </a:tcPr>
                </a:tc>
              </a:tr>
              <a:tr h="310896">
                <a:tc>
                  <a:txBody>
                    <a:bodyPr/>
                    <a:lstStyle/>
                    <a:p>
                      <a:pPr algn="l"/>
                      <a:r>
                        <a:rPr sz="1200" b="0">
                          <a:solidFill>
                            <a:srgbClr val="14181F"/>
                          </a:solidFill>
                          <a:latin typeface="Consolas"/>
                        </a:rPr>
                        <a:t>8</a:t>
                      </a:r>
                    </a:p>
                  </a:txBody>
                  <a:tcPr anchor="ctr" marL="91440" marR="91440" marT="0" marB="0">
                    <a:solidFill>
                      <a:srgbClr val="FFFFFF"/>
                    </a:solidFill>
                  </a:tcPr>
                </a:tc>
                <a:tc>
                  <a:txBody>
                    <a:bodyPr/>
                    <a:lstStyle/>
                    <a:p>
                      <a:pPr algn="l"/>
                      <a:r>
                        <a:rPr sz="1200" b="0">
                          <a:solidFill>
                            <a:srgbClr val="14181F"/>
                          </a:solidFill>
                          <a:latin typeface="Calibri"/>
                        </a:rPr>
                        <a:t>Conclusion</a:t>
                      </a:r>
                    </a:p>
                  </a:txBody>
                  <a:tcPr anchor="ctr" marL="91440" marR="91440" marT="0" marB="0">
                    <a:solidFill>
                      <a:srgbClr val="FFFFFF"/>
                    </a:solidFill>
                  </a:tcPr>
                </a:tc>
                <a:tc>
                  <a:txBody>
                    <a:bodyPr/>
                    <a:lstStyle/>
                    <a:p>
                      <a:pPr algn="l"/>
                      <a:r>
                        <a:rPr sz="1200" b="0">
                          <a:solidFill>
                            <a:srgbClr val="14181F"/>
                          </a:solidFill>
                          <a:latin typeface="Calibri"/>
                        </a:rPr>
                        <a:t>Not started</a:t>
                      </a:r>
                    </a:p>
                  </a:txBody>
                  <a:tcPr anchor="ctr" marL="91440" marR="91440" marT="0" marB="0">
                    <a:solidFill>
                      <a:srgbClr val="FFFFFF"/>
                    </a:solidFill>
                  </a:tcPr>
                </a:tc>
                <a:tc>
                  <a:txBody>
                    <a:bodyPr/>
                    <a:lstStyle/>
                    <a:p>
                      <a:pPr algn="r"/>
                      <a:r>
                        <a:rPr sz="1200" b="0">
                          <a:solidFill>
                            <a:srgbClr val="14181F"/>
                          </a:solidFill>
                          <a:latin typeface="Consolas"/>
                        </a:rPr>
                        <a:t>0 %</a:t>
                      </a:r>
                    </a:p>
                  </a:txBody>
                  <a:tcPr anchor="ctr" marL="91440" marR="91440" marT="0" marB="0">
                    <a:solidFill>
                      <a:srgbClr val="FFFFFF"/>
                    </a:solidFill>
                  </a:tcPr>
                </a:tc>
              </a:tr>
            </a:tbl>
          </a:graphicData>
        </a:graphic>
      </p:graphicFrame>
      <p:sp>
        <p:nvSpPr>
          <p:cNvPr id="5" name="TextBox 4"/>
          <p:cNvSpPr txBox="1"/>
          <p:nvPr/>
        </p:nvSpPr>
        <p:spPr>
          <a:xfrm>
            <a:off x="777240" y="5212080"/>
            <a:ext cx="10607040" cy="1188720"/>
          </a:xfrm>
          <a:prstGeom prst="rect">
            <a:avLst/>
          </a:prstGeom>
          <a:noFill/>
        </p:spPr>
        <p:txBody>
          <a:bodyPr wrap="square" lIns="0" rIns="0" tIns="0" bIns="0">
            <a:spAutoFit/>
          </a:bodyPr>
          <a:lstStyle/>
          <a:p>
            <a:pPr algn="l">
              <a:lnSpc>
                <a:spcPct val="100000"/>
              </a:lnSpc>
              <a:spcBef>
                <a:spcPts val="0"/>
              </a:spcBef>
              <a:spcAft>
                <a:spcPts val="800"/>
              </a:spcAft>
            </a:pPr>
            <a:r>
              <a:rPr sz="1600" b="1">
                <a:solidFill>
                  <a:srgbClr val="14181F"/>
                </a:solidFill>
                <a:latin typeface="Calibri"/>
              </a:rPr>
              <a:t>Next seven days</a:t>
            </a:r>
          </a:p>
          <a:p>
            <a:pPr algn="l">
              <a:lnSpc>
                <a:spcPct val="125000"/>
              </a:lnSpc>
              <a:spcBef>
                <a:spcPts val="0"/>
              </a:spcBef>
              <a:spcAft>
                <a:spcPts val="600"/>
              </a:spcAft>
            </a:pPr>
            <a:r>
              <a:rPr sz="1500" b="0">
                <a:solidFill>
                  <a:srgbClr val="5A636F"/>
                </a:solidFill>
                <a:latin typeface="Calibri"/>
              </a:rPr>
              <a:t>Machine, unattended: the fault matrix, then experiment C2.   Person, in parallel: Overleaf and Zotero, 60–80 papers screened, Chapter 2 skeleton with the research gap in one paragraph.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FF2F5"/>
        </a:solidFill>
        <a:effectLst/>
      </p:bgPr>
    </p:bg>
    <p:spTree>
      <p:nvGrpSpPr>
        <p:cNvPr id="1" name=""/>
        <p:cNvGrpSpPr/>
        <p:nvPr/>
      </p:nvGrpSpPr>
      <p:grpSpPr/>
      <p:sp>
        <p:nvSpPr>
          <p:cNvPr id="2" name="TextBox 1"/>
          <p:cNvSpPr txBox="1"/>
          <p:nvPr/>
        </p:nvSpPr>
        <p:spPr>
          <a:xfrm>
            <a:off x="777240" y="502920"/>
            <a:ext cx="10637215" cy="1280160"/>
          </a:xfrm>
          <a:prstGeom prst="rect">
            <a:avLst/>
          </a:prstGeom>
          <a:noFill/>
        </p:spPr>
        <p:txBody>
          <a:bodyPr wrap="square" lIns="0" rIns="0" tIns="0" bIns="0">
            <a:spAutoFit/>
          </a:bodyPr>
          <a:lstStyle/>
          <a:p>
            <a:pPr algn="l">
              <a:lnSpc>
                <a:spcPct val="100000"/>
              </a:lnSpc>
              <a:spcBef>
                <a:spcPts val="0"/>
              </a:spcBef>
              <a:spcAft>
                <a:spcPts val="800"/>
              </a:spcAft>
            </a:pPr>
            <a:r>
              <a:rPr sz="1100" b="0">
                <a:solidFill>
                  <a:srgbClr val="8A929D"/>
                </a:solidFill>
                <a:latin typeface="Consolas"/>
              </a:rPr>
              <a:t>DECISIONS</a:t>
            </a:r>
          </a:p>
          <a:p>
            <a:pPr algn="l">
              <a:lnSpc>
                <a:spcPct val="95000"/>
              </a:lnSpc>
              <a:spcBef>
                <a:spcPts val="0"/>
              </a:spcBef>
              <a:spcAft>
                <a:spcPts val="400"/>
              </a:spcAft>
            </a:pPr>
            <a:r>
              <a:rPr sz="3000" b="0">
                <a:solidFill>
                  <a:srgbClr val="14181F"/>
                </a:solidFill>
                <a:latin typeface="Georgia"/>
              </a:rPr>
              <a:t>What I need from this meeting</a:t>
            </a:r>
          </a:p>
          <a:p>
            <a:pPr algn="l">
              <a:lnSpc>
                <a:spcPct val="100000"/>
              </a:lnSpc>
              <a:spcBef>
                <a:spcPts val="600"/>
              </a:spcBef>
              <a:spcAft>
                <a:spcPts val="600"/>
              </a:spcAft>
            </a:pPr>
            <a:r>
              <a:rPr sz="1400" b="0">
                <a:solidFill>
                  <a:srgbClr val="5A636F"/>
                </a:solidFill>
                <a:latin typeface="Calibri"/>
              </a:rPr>
              <a:t>Three of the four can only be cleared by you.</a:t>
            </a:r>
          </a:p>
        </p:txBody>
      </p:sp>
      <p:sp>
        <p:nvSpPr>
          <p:cNvPr id="3" name="Rectangle 2"/>
          <p:cNvSpPr/>
          <p:nvPr/>
        </p:nvSpPr>
        <p:spPr>
          <a:xfrm>
            <a:off x="777240" y="1828800"/>
            <a:ext cx="10637215" cy="12700"/>
          </a:xfrm>
          <a:prstGeom prst="rect">
            <a:avLst/>
          </a:prstGeom>
          <a:solidFill>
            <a:srgbClr val="D2D8E0"/>
          </a:solidFill>
          <a:ln>
            <a:noFill/>
          </a:ln>
          <a:effectLst/>
        </p:spPr>
        <p:txBody>
          <a:bodyPr rtlCol="0" anchor="ctr"/>
          <a:lstStyle/>
          <a:p>
            <a:pPr algn="ctr"/>
          </a:p>
        </p:txBody>
      </p:sp>
      <p:sp>
        <p:nvSpPr>
          <p:cNvPr id="4" name="TextBox 3"/>
          <p:cNvSpPr txBox="1"/>
          <p:nvPr/>
        </p:nvSpPr>
        <p:spPr>
          <a:xfrm>
            <a:off x="777240" y="2148840"/>
            <a:ext cx="10637215" cy="4069080"/>
          </a:xfrm>
          <a:prstGeom prst="rect">
            <a:avLst/>
          </a:prstGeom>
          <a:noFill/>
        </p:spPr>
        <p:txBody>
          <a:bodyPr wrap="square" lIns="0" rIns="0" tIns="0" bIns="0">
            <a:spAutoFit/>
          </a:bodyPr>
          <a:lstStyle/>
          <a:p>
            <a:pPr>
              <a:lnSpc>
                <a:spcPct val="125000"/>
              </a:lnSpc>
              <a:spcAft>
                <a:spcPts val="1400"/>
              </a:spcAft>
            </a:pPr>
            <a:r>
              <a:rPr sz="1500" b="1">
                <a:solidFill>
                  <a:srgbClr val="14181F"/>
                </a:solidFill>
                <a:latin typeface="Calibri"/>
              </a:rPr>
              <a:t>1 — Approve the contribution statement and claims C1–C3 in writing.  </a:t>
            </a:r>
            <a:r>
              <a:rPr sz="1500">
                <a:solidFill>
                  <a:srgbClr val="5A636F"/>
                </a:solidFill>
                <a:latin typeface="Calibri"/>
              </a:rPr>
              <a:t>Three days of implementation currently rest on unapproved claims.</a:t>
            </a:r>
          </a:p>
          <a:p>
            <a:pPr>
              <a:lnSpc>
                <a:spcPct val="125000"/>
              </a:lnSpc>
              <a:spcAft>
                <a:spcPts val="1400"/>
              </a:spcAft>
            </a:pPr>
            <a:r>
              <a:rPr sz="1500" b="1">
                <a:solidFill>
                  <a:srgbClr val="14181F"/>
                </a:solidFill>
                <a:latin typeface="Calibri"/>
              </a:rPr>
              <a:t>2 — What are ITPU's formal requirements?  </a:t>
            </a:r>
            <a:r>
              <a:rPr sz="1500">
                <a:solidFill>
                  <a:srgbClr val="5A636F"/>
                </a:solidFill>
                <a:latin typeface="Calibri"/>
              </a:rPr>
              <a:t>Page count, structure, citation style, exact submission deadline, defence format. None are known, and they shape the writing plan.</a:t>
            </a:r>
          </a:p>
          <a:p>
            <a:pPr>
              <a:lnSpc>
                <a:spcPct val="125000"/>
              </a:lnSpc>
              <a:spcAft>
                <a:spcPts val="1400"/>
              </a:spcAft>
            </a:pPr>
            <a:r>
              <a:rPr sz="1500" b="1">
                <a:solidFill>
                  <a:srgbClr val="14181F"/>
                </a:solidFill>
                <a:latin typeface="Calibri"/>
              </a:rPr>
              <a:t>3 — What is A1 in the bank's own system?  </a:t>
            </a:r>
            <a:r>
              <a:rPr sz="1500">
                <a:solidFill>
                  <a:srgbClr val="5A636F"/>
                </a:solidFill>
                <a:latin typeface="Calibri"/>
              </a:rPr>
              <a:t>Which table, which status values. The experiment assumes INITIATED → VALIDATED → PROCESSED with a REJECTED terminal. This affects Chapter 3, not the code.</a:t>
            </a:r>
          </a:p>
          <a:p>
            <a:pPr>
              <a:lnSpc>
                <a:spcPct val="125000"/>
              </a:lnSpc>
              <a:spcAft>
                <a:spcPts val="1400"/>
              </a:spcAft>
            </a:pPr>
            <a:r>
              <a:rPr sz="1500" b="1">
                <a:solidFill>
                  <a:srgbClr val="14181F"/>
                </a:solidFill>
                <a:latin typeface="Calibri"/>
              </a:rPr>
              <a:t>4 — Should the methodological finding become a named contribution?  </a:t>
            </a:r>
            <a:r>
              <a:rPr sz="1500">
                <a:solidFill>
                  <a:srgbClr val="5A636F"/>
                </a:solidFill>
                <a:latin typeface="Calibri"/>
              </a:rPr>
              <a:t>Six self-detected defects, three of which would have looked like good results. A reusable procedure for validating an event-pipeline benchmark may be worth more than a methods paragraph.</a:t>
            </a:r>
          </a:p>
        </p:txBody>
      </p:sp>
      <p:sp>
        <p:nvSpPr>
          <p:cNvPr id="5" name="TextBox 4"/>
          <p:cNvSpPr txBox="1"/>
          <p:nvPr/>
        </p:nvSpPr>
        <p:spPr>
          <a:xfrm>
            <a:off x="777240" y="5715000"/>
            <a:ext cx="10607040" cy="731520"/>
          </a:xfrm>
          <a:prstGeom prst="rect">
            <a:avLst/>
          </a:prstGeom>
          <a:noFill/>
        </p:spPr>
        <p:txBody>
          <a:bodyPr wrap="square" lIns="0" rIns="0" tIns="0" bIns="0">
            <a:spAutoFit/>
          </a:bodyPr>
          <a:lstStyle/>
          <a:p>
            <a:pPr algn="l">
              <a:lnSpc>
                <a:spcPct val="120000"/>
              </a:lnSpc>
              <a:spcBef>
                <a:spcPts val="0"/>
              </a:spcBef>
              <a:spcAft>
                <a:spcPts val="600"/>
              </a:spcAft>
            </a:pPr>
            <a:r>
              <a:rPr sz="1300" b="0">
                <a:solidFill>
                  <a:srgbClr val="8A929D"/>
                </a:solidFill>
                <a:latin typeface="Calibri"/>
              </a:rPr>
              <a:t>To record: no production bank data anywhere · 50 TPS with WRAPPER_B2 as the binding constraint · zero loss reported as Rule-of-Three bounds · p ≥ 0.0079 is the floor at five repetitions.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